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Arimo Bold" charset="1" panose="020B0704020202020204"/>
      <p:regular r:id="rId13"/>
    </p:embeddedFont>
    <p:embeddedFont>
      <p:font typeface="Canva Sans" charset="1" panose="020B0503030501040103"/>
      <p:regular r:id="rId14"/>
    </p:embeddedFont>
    <p:embeddedFont>
      <p:font typeface="Arimo" charset="1" panose="020B0604020202020204"/>
      <p:regular r:id="rId15"/>
    </p:embeddedFont>
    <p:embeddedFont>
      <p:font typeface="Canva Sans Bold" charset="1" panose="020B0803030501040103"/>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notesSlides/notesSlide2.xml" Type="http://schemas.openxmlformats.org/officeDocument/2006/relationships/notesSlide"/><Relationship Id="rId2" Target="presProps.xml" Type="http://schemas.openxmlformats.org/officeDocument/2006/relationships/presProps"/><Relationship Id="rId20" Target="notesSlides/notesSlide3.xml" Type="http://schemas.openxmlformats.org/officeDocument/2006/relationships/notesSlide"/><Relationship Id="rId21" Target="notesSlides/notesSlide4.xml" Type="http://schemas.openxmlformats.org/officeDocument/2006/relationships/notesSlide"/><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Definition</a:t>
            </a:r>
          </a:p>
          <a:p>
            <a:r>
              <a:rPr lang="en-US"/>
              <a:t/>
            </a:r>
          </a:p>
          <a:p>
            <a:r>
              <a:rPr lang="en-US"/>
              <a:t>A Means of Protection (MOP) is any safety measure that prevents electric shock to a person (patient or operator) when using medical electrical equipment.</a:t>
            </a:r>
          </a:p>
          <a:p>
            <a:r>
              <a:rPr lang="en-US"/>
              <a:t>It can be achieved through insulation, spacing, earthing, or impedance limits.</a:t>
            </a:r>
          </a:p>
          <a:p>
            <a:r>
              <a:rPr lang="en-US"/>
              <a:t/>
            </a:r>
          </a:p>
          <a:p>
            <a:r>
              <a:rPr lang="en-US"/>
              <a:t>IEC 60601-1 defines two types:</a:t>
            </a:r>
          </a:p>
          <a:p>
            <a:r>
              <a:rPr lang="en-US"/>
              <a:t/>
            </a:r>
          </a:p>
          <a:p>
            <a:r>
              <a:rPr lang="en-US"/>
              <a:t>MOOP → Means of Operator Protection</a:t>
            </a:r>
          </a:p>
          <a:p>
            <a:r>
              <a:rPr lang="en-US"/>
              <a:t>→ Protects doctors, nurses, or technicians handling the equipment.</a:t>
            </a:r>
          </a:p>
          <a:p>
            <a:r>
              <a:rPr lang="en-US"/>
              <a:t/>
            </a:r>
          </a:p>
          <a:p>
            <a:r>
              <a:rPr lang="en-US"/>
              <a:t>MOPP → Means of Patient Protection</a:t>
            </a:r>
          </a:p>
          <a:p>
            <a:r>
              <a:rPr lang="en-US"/>
              <a:t>→ Protects patients — who are much more vulnerable to small currents.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“Now let’s look at how Class II devices are physically constructed to achieve their safety.</a:t>
            </a:r>
          </a:p>
          <a:p>
            <a:r>
              <a:rPr lang="en-US"/>
              <a:t/>
            </a:r>
          </a:p>
          <a:p>
            <a:r>
              <a:rPr lang="en-US"/>
              <a:t>First, unlike Class I equipment, these devices don’t have a protective-earth conductor. All protection depends on the integrity of their insulation barriers.</a:t>
            </a:r>
          </a:p>
          <a:p>
            <a:r>
              <a:rPr lang="en-US"/>
              <a:t/>
            </a:r>
          </a:p>
          <a:p>
            <a:r>
              <a:rPr lang="en-US"/>
              <a:t>Every conductive surface that a user or patient can touch is separated from live parts by either double or reinforced insulation. This ensures safety even if one insulation layer fails.</a:t>
            </a:r>
          </a:p>
          <a:p>
            <a:r>
              <a:rPr lang="en-US"/>
              <a:t/>
            </a:r>
          </a:p>
          <a:p>
            <a:r>
              <a:rPr lang="en-US"/>
              <a:t>To prevent any chance of arcing, the creepage and clearance distances are carefully calculated following IEC 60601-1 tables, depending on voltage and pollution level.</a:t>
            </a:r>
          </a:p>
          <a:p>
            <a:r>
              <a:rPr lang="en-US"/>
              <a:t/>
            </a:r>
          </a:p>
          <a:p>
            <a:r>
              <a:rPr lang="en-US"/>
              <a:t>The outer enclosure is typically plastic or a composite material, which naturally provides insulation and reduces weight.</a:t>
            </a:r>
          </a:p>
          <a:p>
            <a:r>
              <a:rPr lang="en-US"/>
              <a:t/>
            </a:r>
          </a:p>
          <a:p>
            <a:r>
              <a:rPr lang="en-US"/>
              <a:t>In cases where a metal chassis is needed for strength or heat dissipation, it’s completely encapsulated so there’s no exposed metal connected to live circuits.</a:t>
            </a:r>
          </a:p>
          <a:p>
            <a:r>
              <a:rPr lang="en-US"/>
              <a:t/>
            </a:r>
          </a:p>
          <a:p>
            <a:r>
              <a:rPr lang="en-US"/>
              <a:t>Altogether, these construction practices guarantee that Class II devices stay safe and reliable, even in environments where earthing may be unavailable.”</a:t>
            </a:r>
          </a:p>
          <a:p>
            <a:r>
              <a:rPr lang="en-US"/>
              <a:t/>
            </a:r>
          </a:p>
          <a:p>
            <a:r>
              <a:rPr lang="en-US"/>
              <a:t/>
            </a:r>
          </a:p>
          <a:p>
            <a:r>
              <a:rPr lang="en-US"/>
              <a:t/>
            </a:r>
          </a:p>
          <a:p>
            <a:r>
              <a:rPr lang="en-US"/>
              <a:t>Creepage = surface distance along insulation.</a:t>
            </a:r>
          </a:p>
          <a:p>
            <a:r>
              <a:rPr lang="en-US"/>
              <a:t>Clearance = air gap between conductive parts.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diagram shows the internal construction of a typical Class II medical electrical device.</a:t>
            </a:r>
          </a:p>
          <a:p>
            <a:r>
              <a:rPr lang="en-US"/>
              <a:t/>
            </a:r>
          </a:p>
          <a:p>
            <a:r>
              <a:rPr lang="en-US"/>
              <a:t>Starting from the left, you can see the mains plug and power cord feeding into the device. Notice that there’s no protective-earth conductor—safety is entirely based on insulation.</a:t>
            </a:r>
          </a:p>
          <a:p>
            <a:r>
              <a:rPr lang="en-US"/>
              <a:t/>
            </a:r>
          </a:p>
          <a:p>
            <a:r>
              <a:rPr lang="en-US"/>
              <a:t>The blue and cyan layers represent the basic and supplementary insulation, which together form double insulation. Around certain parts, like the motor and applied part, we have reinforced insulation, offering the same level of protection in a single layer.</a:t>
            </a:r>
          </a:p>
          <a:p>
            <a:r>
              <a:rPr lang="en-US"/>
              <a:t/>
            </a:r>
          </a:p>
          <a:p>
            <a:r>
              <a:rPr lang="en-US"/>
              <a:t>The entire assembly is enclosed in an insulating housing—marked here as the green line—ensuring that no live components are accessible to the user or patient.</a:t>
            </a:r>
          </a:p>
          <a:p>
            <a:r>
              <a:rPr lang="en-US"/>
              <a:t/>
            </a:r>
          </a:p>
          <a:p>
            <a:r>
              <a:rPr lang="en-US"/>
              <a:t>The motor, shown at the bottom, is isolated by reinforced insulation even though it has a metal shaft accessible to the outside.</a:t>
            </a:r>
          </a:p>
          <a:p>
            <a:r>
              <a:rPr lang="en-US"/>
              <a:t/>
            </a:r>
          </a:p>
          <a:p>
            <a:r>
              <a:rPr lang="en-US"/>
              <a:t>Altogether, this layout ensures that even if one insulation barrier fails, there’s still another protecting the patient and operator from any electric shock.”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After design and construction, every Class II medical device must pass several electrical safety tests defined in IEC 60601-1.</a:t>
            </a:r>
          </a:p>
          <a:p>
            <a:r>
              <a:rPr lang="en-US"/>
              <a:t/>
            </a:r>
          </a:p>
          <a:p>
            <a:r>
              <a:rPr lang="en-US"/>
              <a:t>The dielectric strength test applies a high voltage — usually around 4 to 5 kilovolts — between live and accessible parts to ensure the insulation won’t break down.</a:t>
            </a:r>
          </a:p>
          <a:p>
            <a:r>
              <a:rPr lang="en-US"/>
              <a:t/>
            </a:r>
          </a:p>
          <a:p>
            <a:r>
              <a:rPr lang="en-US"/>
              <a:t>Next, the insulation resistance test verifies that materials are dry and clean; high resistance means the insulation is still effective.</a:t>
            </a:r>
          </a:p>
          <a:p>
            <a:r>
              <a:rPr lang="en-US"/>
              <a:t/>
            </a:r>
          </a:p>
          <a:p>
            <a:r>
              <a:rPr lang="en-US"/>
              <a:t>The leakage current test checks that the small currents flowing through insulation or capacitance are far below harmful levels — for patients, that’s typically under 0.01 milliamps.</a:t>
            </a:r>
          </a:p>
          <a:p>
            <a:r>
              <a:rPr lang="en-US"/>
              <a:t/>
            </a:r>
          </a:p>
          <a:p>
            <a:r>
              <a:rPr lang="en-US"/>
              <a:t>Then we check creepage and clearance distances on PCBs and internal wiring to make sure there’s enough spacing to prevent arcing, especially under humidity or voltage spikes.</a:t>
            </a:r>
          </a:p>
          <a:p>
            <a:r>
              <a:rPr lang="en-US"/>
              <a:t/>
            </a:r>
          </a:p>
          <a:p>
            <a:r>
              <a:rPr lang="en-US"/>
              <a:t>Finally, the single-fault condition test intentionally disables one insulation barrier to confirm that the second layer still protects the user.</a:t>
            </a:r>
          </a:p>
          <a:p>
            <a:r>
              <a:rPr lang="en-US"/>
              <a:t/>
            </a:r>
          </a:p>
          <a:p>
            <a:r>
              <a:rPr lang="en-US"/>
              <a:t>Together, these tests verify that Class II devices remain safe throughout their life — even when faults occur.”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5.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2" Target="../notesSlides/notesSlide2.xml" Type="http://schemas.openxmlformats.org/officeDocument/2006/relationships/notesSlid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7.png" Type="http://schemas.openxmlformats.org/officeDocument/2006/relationships/image"/><Relationship Id="rId4" Target="../media/image1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6FC696"/>
        </a:solidFill>
      </p:bgPr>
    </p:bg>
    <p:spTree>
      <p:nvGrpSpPr>
        <p:cNvPr id="1" name=""/>
        <p:cNvGrpSpPr/>
        <p:nvPr/>
      </p:nvGrpSpPr>
      <p:grpSpPr>
        <a:xfrm>
          <a:off x="0" y="0"/>
          <a:ext cx="0" cy="0"/>
          <a:chOff x="0" y="0"/>
          <a:chExt cx="0" cy="0"/>
        </a:xfrm>
      </p:grpSpPr>
      <p:grpSp>
        <p:nvGrpSpPr>
          <p:cNvPr name="Group 2" id="2"/>
          <p:cNvGrpSpPr/>
          <p:nvPr/>
        </p:nvGrpSpPr>
        <p:grpSpPr>
          <a:xfrm rot="0">
            <a:off x="-179575" y="-272828"/>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FFFF"/>
            </a:solidFill>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564"/>
                </a:lnSpc>
              </a:pPr>
            </a:p>
          </p:txBody>
        </p:sp>
      </p:grpSp>
      <p:sp>
        <p:nvSpPr>
          <p:cNvPr name="Freeform 5" id="5"/>
          <p:cNvSpPr/>
          <p:nvPr/>
        </p:nvSpPr>
        <p:spPr>
          <a:xfrm flipH="false" flipV="false" rot="0">
            <a:off x="0" y="4565487"/>
            <a:ext cx="5841709" cy="5721513"/>
          </a:xfrm>
          <a:custGeom>
            <a:avLst/>
            <a:gdLst/>
            <a:ahLst/>
            <a:cxnLst/>
            <a:rect r="r" b="b" t="t" l="l"/>
            <a:pathLst>
              <a:path h="5721513" w="5841709">
                <a:moveTo>
                  <a:pt x="0" y="0"/>
                </a:moveTo>
                <a:lnTo>
                  <a:pt x="5841709" y="0"/>
                </a:lnTo>
                <a:lnTo>
                  <a:pt x="5841709" y="5721513"/>
                </a:lnTo>
                <a:lnTo>
                  <a:pt x="0" y="5721513"/>
                </a:lnTo>
                <a:lnTo>
                  <a:pt x="0" y="0"/>
                </a:lnTo>
                <a:close/>
              </a:path>
            </a:pathLst>
          </a:custGeom>
          <a:blipFill>
            <a:blip r:embed="rId2"/>
            <a:stretch>
              <a:fillRect l="0" t="-667" r="0" b="-667"/>
            </a:stretch>
          </a:blipFill>
        </p:spPr>
      </p:sp>
      <p:grpSp>
        <p:nvGrpSpPr>
          <p:cNvPr name="Group 6" id="6"/>
          <p:cNvGrpSpPr/>
          <p:nvPr/>
        </p:nvGrpSpPr>
        <p:grpSpPr>
          <a:xfrm rot="2700000">
            <a:off x="-2619221" y="-7621339"/>
            <a:ext cx="7652003" cy="14331316"/>
            <a:chOff x="0" y="0"/>
            <a:chExt cx="2015342" cy="3774503"/>
          </a:xfrm>
        </p:grpSpPr>
        <p:sp>
          <p:nvSpPr>
            <p:cNvPr name="Freeform 7" id="7"/>
            <p:cNvSpPr/>
            <p:nvPr/>
          </p:nvSpPr>
          <p:spPr>
            <a:xfrm flipH="false" flipV="false" rot="0">
              <a:off x="0" y="0"/>
              <a:ext cx="2015342" cy="3774503"/>
            </a:xfrm>
            <a:custGeom>
              <a:avLst/>
              <a:gdLst/>
              <a:ahLst/>
              <a:cxnLst/>
              <a:rect r="r" b="b" t="t" l="l"/>
              <a:pathLst>
                <a:path h="3774503" w="2015342">
                  <a:moveTo>
                    <a:pt x="0" y="0"/>
                  </a:moveTo>
                  <a:lnTo>
                    <a:pt x="2015342" y="0"/>
                  </a:lnTo>
                  <a:lnTo>
                    <a:pt x="2015342" y="3774503"/>
                  </a:lnTo>
                  <a:lnTo>
                    <a:pt x="0" y="3774503"/>
                  </a:lnTo>
                  <a:close/>
                </a:path>
              </a:pathLst>
            </a:custGeom>
            <a:solidFill>
              <a:srgbClr val="86D6AA"/>
            </a:solidFill>
          </p:spPr>
        </p:sp>
        <p:sp>
          <p:nvSpPr>
            <p:cNvPr name="TextBox 8" id="8"/>
            <p:cNvSpPr txBox="true"/>
            <p:nvPr/>
          </p:nvSpPr>
          <p:spPr>
            <a:xfrm>
              <a:off x="0" y="-38100"/>
              <a:ext cx="2015342" cy="3812603"/>
            </a:xfrm>
            <a:prstGeom prst="rect">
              <a:avLst/>
            </a:prstGeom>
          </p:spPr>
          <p:txBody>
            <a:bodyPr anchor="ctr" rtlCol="false" tIns="50800" lIns="50800" bIns="50800" rIns="50800"/>
            <a:lstStyle/>
            <a:p>
              <a:pPr algn="ctr">
                <a:lnSpc>
                  <a:spcPts val="2564"/>
                </a:lnSpc>
              </a:pPr>
            </a:p>
          </p:txBody>
        </p:sp>
      </p:grpSp>
      <p:grpSp>
        <p:nvGrpSpPr>
          <p:cNvPr name="Group 9" id="9"/>
          <p:cNvGrpSpPr/>
          <p:nvPr/>
        </p:nvGrpSpPr>
        <p:grpSpPr>
          <a:xfrm rot="2700000">
            <a:off x="-4005577" y="-7438486"/>
            <a:ext cx="7652003" cy="14331316"/>
            <a:chOff x="0" y="0"/>
            <a:chExt cx="2015342" cy="3774503"/>
          </a:xfrm>
        </p:grpSpPr>
        <p:sp>
          <p:nvSpPr>
            <p:cNvPr name="Freeform 10" id="10"/>
            <p:cNvSpPr/>
            <p:nvPr/>
          </p:nvSpPr>
          <p:spPr>
            <a:xfrm flipH="false" flipV="false" rot="0">
              <a:off x="0" y="0"/>
              <a:ext cx="2015342" cy="3774503"/>
            </a:xfrm>
            <a:custGeom>
              <a:avLst/>
              <a:gdLst/>
              <a:ahLst/>
              <a:cxnLst/>
              <a:rect r="r" b="b" t="t" l="l"/>
              <a:pathLst>
                <a:path h="3774503" w="2015342">
                  <a:moveTo>
                    <a:pt x="0" y="0"/>
                  </a:moveTo>
                  <a:lnTo>
                    <a:pt x="2015342" y="0"/>
                  </a:lnTo>
                  <a:lnTo>
                    <a:pt x="2015342" y="3774503"/>
                  </a:lnTo>
                  <a:lnTo>
                    <a:pt x="0" y="3774503"/>
                  </a:lnTo>
                  <a:close/>
                </a:path>
              </a:pathLst>
            </a:custGeom>
            <a:solidFill>
              <a:srgbClr val="6FC696"/>
            </a:solidFill>
          </p:spPr>
        </p:sp>
        <p:sp>
          <p:nvSpPr>
            <p:cNvPr name="TextBox 11" id="11"/>
            <p:cNvSpPr txBox="true"/>
            <p:nvPr/>
          </p:nvSpPr>
          <p:spPr>
            <a:xfrm>
              <a:off x="0" y="-38100"/>
              <a:ext cx="2015342" cy="3812603"/>
            </a:xfrm>
            <a:prstGeom prst="rect">
              <a:avLst/>
            </a:prstGeom>
          </p:spPr>
          <p:txBody>
            <a:bodyPr anchor="ctr" rtlCol="false" tIns="50800" lIns="50800" bIns="50800" rIns="50800"/>
            <a:lstStyle/>
            <a:p>
              <a:pPr algn="ctr">
                <a:lnSpc>
                  <a:spcPts val="2564"/>
                </a:lnSpc>
              </a:pPr>
            </a:p>
          </p:txBody>
        </p:sp>
      </p:grpSp>
      <p:sp>
        <p:nvSpPr>
          <p:cNvPr name="Freeform 12" id="12"/>
          <p:cNvSpPr/>
          <p:nvPr/>
        </p:nvSpPr>
        <p:spPr>
          <a:xfrm flipH="false" flipV="false" rot="0">
            <a:off x="6520836" y="5051647"/>
            <a:ext cx="5593996" cy="3493297"/>
          </a:xfrm>
          <a:custGeom>
            <a:avLst/>
            <a:gdLst/>
            <a:ahLst/>
            <a:cxnLst/>
            <a:rect r="r" b="b" t="t" l="l"/>
            <a:pathLst>
              <a:path h="3493297" w="5593996">
                <a:moveTo>
                  <a:pt x="0" y="0"/>
                </a:moveTo>
                <a:lnTo>
                  <a:pt x="5593996" y="0"/>
                </a:lnTo>
                <a:lnTo>
                  <a:pt x="5593996" y="3493297"/>
                </a:lnTo>
                <a:lnTo>
                  <a:pt x="0" y="3493297"/>
                </a:lnTo>
                <a:lnTo>
                  <a:pt x="0" y="0"/>
                </a:lnTo>
                <a:close/>
              </a:path>
            </a:pathLst>
          </a:custGeom>
          <a:blipFill>
            <a:blip r:embed="rId3"/>
            <a:stretch>
              <a:fillRect l="0" t="0" r="0" b="0"/>
            </a:stretch>
          </a:blipFill>
        </p:spPr>
      </p:sp>
      <p:sp>
        <p:nvSpPr>
          <p:cNvPr name="Freeform 13" id="13"/>
          <p:cNvSpPr/>
          <p:nvPr/>
        </p:nvSpPr>
        <p:spPr>
          <a:xfrm flipH="false" flipV="false" rot="0">
            <a:off x="9691763" y="7627533"/>
            <a:ext cx="2386639" cy="2386639"/>
          </a:xfrm>
          <a:custGeom>
            <a:avLst/>
            <a:gdLst/>
            <a:ahLst/>
            <a:cxnLst/>
            <a:rect r="r" b="b" t="t" l="l"/>
            <a:pathLst>
              <a:path h="2386639" w="2386639">
                <a:moveTo>
                  <a:pt x="0" y="0"/>
                </a:moveTo>
                <a:lnTo>
                  <a:pt x="2386639" y="0"/>
                </a:lnTo>
                <a:lnTo>
                  <a:pt x="2386639" y="2386639"/>
                </a:lnTo>
                <a:lnTo>
                  <a:pt x="0" y="2386639"/>
                </a:lnTo>
                <a:lnTo>
                  <a:pt x="0" y="0"/>
                </a:lnTo>
                <a:close/>
              </a:path>
            </a:pathLst>
          </a:custGeom>
          <a:blipFill>
            <a:blip r:embed="rId4"/>
            <a:stretch>
              <a:fillRect l="0" t="0" r="0" b="0"/>
            </a:stretch>
          </a:blipFill>
        </p:spPr>
      </p:sp>
      <p:grpSp>
        <p:nvGrpSpPr>
          <p:cNvPr name="Group 14" id="14"/>
          <p:cNvGrpSpPr/>
          <p:nvPr/>
        </p:nvGrpSpPr>
        <p:grpSpPr>
          <a:xfrm rot="-10800000">
            <a:off x="17754767" y="6375657"/>
            <a:ext cx="7908743" cy="14331316"/>
            <a:chOff x="0" y="0"/>
            <a:chExt cx="2082961" cy="3774503"/>
          </a:xfrm>
        </p:grpSpPr>
        <p:sp>
          <p:nvSpPr>
            <p:cNvPr name="Freeform 15" id="15"/>
            <p:cNvSpPr/>
            <p:nvPr/>
          </p:nvSpPr>
          <p:spPr>
            <a:xfrm flipH="false" flipV="false" rot="0">
              <a:off x="0" y="0"/>
              <a:ext cx="2082961" cy="3774503"/>
            </a:xfrm>
            <a:custGeom>
              <a:avLst/>
              <a:gdLst/>
              <a:ahLst/>
              <a:cxnLst/>
              <a:rect r="r" b="b" t="t" l="l"/>
              <a:pathLst>
                <a:path h="3774503" w="2082961">
                  <a:moveTo>
                    <a:pt x="0" y="0"/>
                  </a:moveTo>
                  <a:lnTo>
                    <a:pt x="2082961" y="0"/>
                  </a:lnTo>
                  <a:lnTo>
                    <a:pt x="2082961" y="3774503"/>
                  </a:lnTo>
                  <a:lnTo>
                    <a:pt x="0" y="3774503"/>
                  </a:lnTo>
                  <a:close/>
                </a:path>
              </a:pathLst>
            </a:custGeom>
            <a:solidFill>
              <a:srgbClr val="6FC696"/>
            </a:solidFill>
          </p:spPr>
        </p:sp>
        <p:sp>
          <p:nvSpPr>
            <p:cNvPr name="TextBox 16" id="16"/>
            <p:cNvSpPr txBox="true"/>
            <p:nvPr/>
          </p:nvSpPr>
          <p:spPr>
            <a:xfrm>
              <a:off x="0" y="-38100"/>
              <a:ext cx="2082961" cy="3812603"/>
            </a:xfrm>
            <a:prstGeom prst="rect">
              <a:avLst/>
            </a:prstGeom>
          </p:spPr>
          <p:txBody>
            <a:bodyPr anchor="ctr" rtlCol="false" tIns="50800" lIns="50800" bIns="50800" rIns="50800"/>
            <a:lstStyle/>
            <a:p>
              <a:pPr algn="ctr">
                <a:lnSpc>
                  <a:spcPts val="2564"/>
                </a:lnSpc>
              </a:pPr>
            </a:p>
          </p:txBody>
        </p:sp>
      </p:grpSp>
      <p:sp>
        <p:nvSpPr>
          <p:cNvPr name="Freeform 17" id="17"/>
          <p:cNvSpPr/>
          <p:nvPr/>
        </p:nvSpPr>
        <p:spPr>
          <a:xfrm flipH="false" flipV="false" rot="0">
            <a:off x="5775681" y="8314435"/>
            <a:ext cx="3879651" cy="1972565"/>
          </a:xfrm>
          <a:custGeom>
            <a:avLst/>
            <a:gdLst/>
            <a:ahLst/>
            <a:cxnLst/>
            <a:rect r="r" b="b" t="t" l="l"/>
            <a:pathLst>
              <a:path h="1972565" w="3879651">
                <a:moveTo>
                  <a:pt x="0" y="0"/>
                </a:moveTo>
                <a:lnTo>
                  <a:pt x="3879652" y="0"/>
                </a:lnTo>
                <a:lnTo>
                  <a:pt x="3879652" y="1972565"/>
                </a:lnTo>
                <a:lnTo>
                  <a:pt x="0" y="1972565"/>
                </a:lnTo>
                <a:lnTo>
                  <a:pt x="0" y="0"/>
                </a:lnTo>
                <a:close/>
              </a:path>
            </a:pathLst>
          </a:custGeom>
          <a:blipFill>
            <a:blip r:embed="rId5"/>
            <a:stretch>
              <a:fillRect l="0" t="0" r="0" b="0"/>
            </a:stretch>
          </a:blipFill>
        </p:spPr>
      </p:sp>
      <p:sp>
        <p:nvSpPr>
          <p:cNvPr name="Freeform 18" id="18"/>
          <p:cNvSpPr/>
          <p:nvPr/>
        </p:nvSpPr>
        <p:spPr>
          <a:xfrm flipH="false" flipV="false" rot="0">
            <a:off x="12078402" y="5958528"/>
            <a:ext cx="5639936" cy="4055644"/>
          </a:xfrm>
          <a:custGeom>
            <a:avLst/>
            <a:gdLst/>
            <a:ahLst/>
            <a:cxnLst/>
            <a:rect r="r" b="b" t="t" l="l"/>
            <a:pathLst>
              <a:path h="4055644" w="5639936">
                <a:moveTo>
                  <a:pt x="0" y="0"/>
                </a:moveTo>
                <a:lnTo>
                  <a:pt x="5639935" y="0"/>
                </a:lnTo>
                <a:lnTo>
                  <a:pt x="5639935" y="4055644"/>
                </a:lnTo>
                <a:lnTo>
                  <a:pt x="0" y="4055644"/>
                </a:lnTo>
                <a:lnTo>
                  <a:pt x="0" y="0"/>
                </a:lnTo>
                <a:close/>
              </a:path>
            </a:pathLst>
          </a:custGeom>
          <a:blipFill>
            <a:blip r:embed="rId6"/>
            <a:stretch>
              <a:fillRect l="-8500" t="-28911" r="-4212" b="-27831"/>
            </a:stretch>
          </a:blipFill>
        </p:spPr>
      </p:sp>
      <p:grpSp>
        <p:nvGrpSpPr>
          <p:cNvPr name="Group 19" id="19"/>
          <p:cNvGrpSpPr/>
          <p:nvPr/>
        </p:nvGrpSpPr>
        <p:grpSpPr>
          <a:xfrm rot="0">
            <a:off x="6748808" y="621248"/>
            <a:ext cx="11910933" cy="3086100"/>
            <a:chOff x="0" y="0"/>
            <a:chExt cx="3137036" cy="812800"/>
          </a:xfrm>
        </p:grpSpPr>
        <p:sp>
          <p:nvSpPr>
            <p:cNvPr name="Freeform 20" id="20"/>
            <p:cNvSpPr/>
            <p:nvPr/>
          </p:nvSpPr>
          <p:spPr>
            <a:xfrm flipH="false" flipV="false" rot="0">
              <a:off x="0" y="0"/>
              <a:ext cx="3137036" cy="812800"/>
            </a:xfrm>
            <a:custGeom>
              <a:avLst/>
              <a:gdLst/>
              <a:ahLst/>
              <a:cxnLst/>
              <a:rect r="r" b="b" t="t" l="l"/>
              <a:pathLst>
                <a:path h="812800" w="3137036">
                  <a:moveTo>
                    <a:pt x="33149" y="0"/>
                  </a:moveTo>
                  <a:lnTo>
                    <a:pt x="3103887" y="0"/>
                  </a:lnTo>
                  <a:cubicBezTo>
                    <a:pt x="3122195" y="0"/>
                    <a:pt x="3137036" y="14841"/>
                    <a:pt x="3137036" y="33149"/>
                  </a:cubicBezTo>
                  <a:lnTo>
                    <a:pt x="3137036" y="779651"/>
                  </a:lnTo>
                  <a:cubicBezTo>
                    <a:pt x="3137036" y="797959"/>
                    <a:pt x="3122195" y="812800"/>
                    <a:pt x="3103887" y="812800"/>
                  </a:cubicBezTo>
                  <a:lnTo>
                    <a:pt x="33149" y="812800"/>
                  </a:lnTo>
                  <a:cubicBezTo>
                    <a:pt x="14841" y="812800"/>
                    <a:pt x="0" y="797959"/>
                    <a:pt x="0" y="779651"/>
                  </a:cubicBezTo>
                  <a:lnTo>
                    <a:pt x="0" y="33149"/>
                  </a:lnTo>
                  <a:cubicBezTo>
                    <a:pt x="0" y="14841"/>
                    <a:pt x="14841" y="0"/>
                    <a:pt x="33149" y="0"/>
                  </a:cubicBezTo>
                  <a:close/>
                </a:path>
              </a:pathLst>
            </a:custGeom>
            <a:solidFill>
              <a:srgbClr val="D6F6E4">
                <a:alpha val="51765"/>
              </a:srgbClr>
            </a:solidFill>
          </p:spPr>
        </p:sp>
        <p:sp>
          <p:nvSpPr>
            <p:cNvPr name="TextBox 21" id="21"/>
            <p:cNvSpPr txBox="true"/>
            <p:nvPr/>
          </p:nvSpPr>
          <p:spPr>
            <a:xfrm>
              <a:off x="0" y="-38100"/>
              <a:ext cx="3137036" cy="850900"/>
            </a:xfrm>
            <a:prstGeom prst="rect">
              <a:avLst/>
            </a:prstGeom>
          </p:spPr>
          <p:txBody>
            <a:bodyPr anchor="ctr" rtlCol="false" tIns="50800" lIns="50800" bIns="50800" rIns="50800"/>
            <a:lstStyle/>
            <a:p>
              <a:pPr algn="ctr">
                <a:lnSpc>
                  <a:spcPts val="2564"/>
                </a:lnSpc>
              </a:pPr>
            </a:p>
          </p:txBody>
        </p:sp>
      </p:grpSp>
      <p:sp>
        <p:nvSpPr>
          <p:cNvPr name="TextBox 22" id="22"/>
          <p:cNvSpPr txBox="true"/>
          <p:nvPr/>
        </p:nvSpPr>
        <p:spPr>
          <a:xfrm rot="0">
            <a:off x="6970364" y="885825"/>
            <a:ext cx="10288936" cy="1097280"/>
          </a:xfrm>
          <a:prstGeom prst="rect">
            <a:avLst/>
          </a:prstGeom>
        </p:spPr>
        <p:txBody>
          <a:bodyPr anchor="t" rtlCol="false" tIns="0" lIns="0" bIns="0" rIns="0">
            <a:spAutoFit/>
          </a:bodyPr>
          <a:lstStyle/>
          <a:p>
            <a:pPr algn="ctr" marL="0" indent="0" lvl="0">
              <a:lnSpc>
                <a:spcPts val="8820"/>
              </a:lnSpc>
            </a:pPr>
            <a:r>
              <a:rPr lang="en-US" b="true" sz="6300">
                <a:solidFill>
                  <a:srgbClr val="CD7F24"/>
                </a:solidFill>
                <a:latin typeface="Arimo Bold"/>
                <a:ea typeface="Arimo Bold"/>
                <a:cs typeface="Arimo Bold"/>
                <a:sym typeface="Arimo Bold"/>
              </a:rPr>
              <a:t>IEC standards - IEC</a:t>
            </a:r>
            <a:r>
              <a:rPr lang="en-US" b="true" sz="6300" u="none">
                <a:solidFill>
                  <a:srgbClr val="CD7F24"/>
                </a:solidFill>
                <a:latin typeface="Arimo Bold"/>
                <a:ea typeface="Arimo Bold"/>
                <a:cs typeface="Arimo Bold"/>
                <a:sym typeface="Arimo Bold"/>
              </a:rPr>
              <a:t> 60601</a:t>
            </a:r>
          </a:p>
        </p:txBody>
      </p:sp>
      <p:sp>
        <p:nvSpPr>
          <p:cNvPr name="TextBox 23" id="23"/>
          <p:cNvSpPr txBox="true"/>
          <p:nvPr/>
        </p:nvSpPr>
        <p:spPr>
          <a:xfrm rot="0">
            <a:off x="9655333" y="1983323"/>
            <a:ext cx="7603967" cy="2887349"/>
          </a:xfrm>
          <a:prstGeom prst="rect">
            <a:avLst/>
          </a:prstGeom>
        </p:spPr>
        <p:txBody>
          <a:bodyPr anchor="t" rtlCol="false" tIns="0" lIns="0" bIns="0" rIns="0">
            <a:spAutoFit/>
          </a:bodyPr>
          <a:lstStyle/>
          <a:p>
            <a:pPr algn="r" marL="0" indent="0" lvl="0">
              <a:lnSpc>
                <a:spcPts val="11479"/>
              </a:lnSpc>
            </a:pPr>
            <a:r>
              <a:rPr lang="en-US" b="true" sz="8199">
                <a:solidFill>
                  <a:srgbClr val="063E66"/>
                </a:solidFill>
                <a:latin typeface="Arimo Bold"/>
                <a:ea typeface="Arimo Bold"/>
                <a:cs typeface="Arimo Bold"/>
                <a:sym typeface="Arimo Bold"/>
              </a:rPr>
              <a:t>Saf</a:t>
            </a:r>
            <a:r>
              <a:rPr lang="en-US" b="true" sz="8199" u="none">
                <a:solidFill>
                  <a:srgbClr val="063E66"/>
                </a:solidFill>
                <a:latin typeface="Arimo Bold"/>
                <a:ea typeface="Arimo Bold"/>
                <a:cs typeface="Arimo Bold"/>
                <a:sym typeface="Arimo Bold"/>
              </a:rPr>
              <a:t>ety Class II </a:t>
            </a:r>
          </a:p>
          <a:p>
            <a:pPr algn="r" marL="0" indent="0" lvl="0">
              <a:lnSpc>
                <a:spcPts val="11479"/>
              </a:lnSpc>
            </a:pPr>
          </a:p>
        </p:txBody>
      </p:sp>
      <p:sp>
        <p:nvSpPr>
          <p:cNvPr name="TextBox 24" id="24"/>
          <p:cNvSpPr txBox="true"/>
          <p:nvPr/>
        </p:nvSpPr>
        <p:spPr>
          <a:xfrm rot="0">
            <a:off x="11713464" y="4106133"/>
            <a:ext cx="5364435" cy="1471930"/>
          </a:xfrm>
          <a:prstGeom prst="rect">
            <a:avLst/>
          </a:prstGeom>
        </p:spPr>
        <p:txBody>
          <a:bodyPr anchor="t" rtlCol="false" tIns="0" lIns="0" bIns="0" rIns="0">
            <a:spAutoFit/>
          </a:bodyPr>
          <a:lstStyle/>
          <a:p>
            <a:pPr algn="r">
              <a:lnSpc>
                <a:spcPts val="3920"/>
              </a:lnSpc>
            </a:pPr>
            <a:r>
              <a:rPr lang="en-US" sz="2800">
                <a:solidFill>
                  <a:srgbClr val="000000"/>
                </a:solidFill>
                <a:latin typeface="Canva Sans"/>
                <a:ea typeface="Canva Sans"/>
                <a:cs typeface="Canva Sans"/>
                <a:sym typeface="Canva Sans"/>
              </a:rPr>
              <a:t>presented by:</a:t>
            </a:r>
          </a:p>
          <a:p>
            <a:pPr algn="r">
              <a:lnSpc>
                <a:spcPts val="3920"/>
              </a:lnSpc>
            </a:pPr>
            <a:r>
              <a:rPr lang="en-US" sz="2800">
                <a:solidFill>
                  <a:srgbClr val="000000"/>
                </a:solidFill>
                <a:latin typeface="Canva Sans"/>
                <a:ea typeface="Canva Sans"/>
                <a:cs typeface="Canva Sans"/>
                <a:sym typeface="Canva Sans"/>
              </a:rPr>
              <a:t>210169L – W.W.R.N.S. Fernando</a:t>
            </a:r>
          </a:p>
          <a:p>
            <a:pPr algn="r">
              <a:lnSpc>
                <a:spcPts val="3920"/>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5319" y="9202731"/>
            <a:ext cx="18498637" cy="1266021"/>
            <a:chOff x="0" y="0"/>
            <a:chExt cx="4872069" cy="333438"/>
          </a:xfrm>
        </p:grpSpPr>
        <p:sp>
          <p:nvSpPr>
            <p:cNvPr name="Freeform 3" id="3"/>
            <p:cNvSpPr/>
            <p:nvPr/>
          </p:nvSpPr>
          <p:spPr>
            <a:xfrm flipH="false" flipV="false" rot="0">
              <a:off x="0" y="0"/>
              <a:ext cx="4872069" cy="333438"/>
            </a:xfrm>
            <a:custGeom>
              <a:avLst/>
              <a:gdLst/>
              <a:ahLst/>
              <a:cxnLst/>
              <a:rect r="r" b="b" t="t" l="l"/>
              <a:pathLst>
                <a:path h="333438" w="4872069">
                  <a:moveTo>
                    <a:pt x="0" y="0"/>
                  </a:moveTo>
                  <a:lnTo>
                    <a:pt x="4872069" y="0"/>
                  </a:lnTo>
                  <a:lnTo>
                    <a:pt x="4872069" y="333438"/>
                  </a:lnTo>
                  <a:lnTo>
                    <a:pt x="0" y="333438"/>
                  </a:lnTo>
                  <a:close/>
                </a:path>
              </a:pathLst>
            </a:custGeom>
            <a:solidFill>
              <a:srgbClr val="6FC696"/>
            </a:solidFill>
          </p:spPr>
        </p:sp>
        <p:sp>
          <p:nvSpPr>
            <p:cNvPr name="TextBox 4" id="4"/>
            <p:cNvSpPr txBox="true"/>
            <p:nvPr/>
          </p:nvSpPr>
          <p:spPr>
            <a:xfrm>
              <a:off x="0" y="-38100"/>
              <a:ext cx="4872069" cy="371538"/>
            </a:xfrm>
            <a:prstGeom prst="rect">
              <a:avLst/>
            </a:prstGeom>
          </p:spPr>
          <p:txBody>
            <a:bodyPr anchor="ctr" rtlCol="false" tIns="50800" lIns="50800" bIns="50800" rIns="50800"/>
            <a:lstStyle/>
            <a:p>
              <a:pPr algn="ctr">
                <a:lnSpc>
                  <a:spcPts val="2564"/>
                </a:lnSpc>
              </a:pPr>
            </a:p>
          </p:txBody>
        </p:sp>
      </p:grpSp>
      <p:sp>
        <p:nvSpPr>
          <p:cNvPr name="Freeform 5" id="5"/>
          <p:cNvSpPr/>
          <p:nvPr/>
        </p:nvSpPr>
        <p:spPr>
          <a:xfrm flipH="false" flipV="false" rot="0">
            <a:off x="10494822" y="3889425"/>
            <a:ext cx="7249970" cy="3690750"/>
          </a:xfrm>
          <a:custGeom>
            <a:avLst/>
            <a:gdLst/>
            <a:ahLst/>
            <a:cxnLst/>
            <a:rect r="r" b="b" t="t" l="l"/>
            <a:pathLst>
              <a:path h="3690750" w="7249970">
                <a:moveTo>
                  <a:pt x="0" y="0"/>
                </a:moveTo>
                <a:lnTo>
                  <a:pt x="7249970" y="0"/>
                </a:lnTo>
                <a:lnTo>
                  <a:pt x="7249970" y="3690750"/>
                </a:lnTo>
                <a:lnTo>
                  <a:pt x="0" y="3690750"/>
                </a:lnTo>
                <a:lnTo>
                  <a:pt x="0" y="0"/>
                </a:lnTo>
                <a:close/>
              </a:path>
            </a:pathLst>
          </a:custGeom>
          <a:blipFill>
            <a:blip r:embed="rId2"/>
            <a:stretch>
              <a:fillRect l="0" t="0" r="-10969" b="0"/>
            </a:stretch>
          </a:blipFill>
        </p:spPr>
      </p:sp>
      <p:sp>
        <p:nvSpPr>
          <p:cNvPr name="TextBox 6" id="6"/>
          <p:cNvSpPr txBox="true"/>
          <p:nvPr/>
        </p:nvSpPr>
        <p:spPr>
          <a:xfrm rot="0">
            <a:off x="1028700" y="2579825"/>
            <a:ext cx="7837145" cy="2256790"/>
          </a:xfrm>
          <a:prstGeom prst="rect">
            <a:avLst/>
          </a:prstGeom>
        </p:spPr>
        <p:txBody>
          <a:bodyPr anchor="t" rtlCol="false" tIns="0" lIns="0" bIns="0" rIns="0">
            <a:spAutoFit/>
          </a:bodyPr>
          <a:lstStyle/>
          <a:p>
            <a:pPr algn="l">
              <a:lnSpc>
                <a:spcPts val="8960"/>
              </a:lnSpc>
            </a:pPr>
            <a:r>
              <a:rPr lang="en-US" sz="6400" b="true">
                <a:solidFill>
                  <a:srgbClr val="CD7F24"/>
                </a:solidFill>
                <a:latin typeface="Arimo Bold"/>
                <a:ea typeface="Arimo Bold"/>
                <a:cs typeface="Arimo Bold"/>
                <a:sym typeface="Arimo Bold"/>
              </a:rPr>
              <a:t>Definition</a:t>
            </a:r>
            <a:r>
              <a:rPr lang="en-US" sz="6400" b="true">
                <a:solidFill>
                  <a:srgbClr val="063E66"/>
                </a:solidFill>
                <a:latin typeface="Arimo Bold"/>
                <a:ea typeface="Arimo Bold"/>
                <a:cs typeface="Arimo Bold"/>
                <a:sym typeface="Arimo Bold"/>
              </a:rPr>
              <a:t> of </a:t>
            </a:r>
          </a:p>
          <a:p>
            <a:pPr algn="l" marL="0" indent="0" lvl="0">
              <a:lnSpc>
                <a:spcPts val="8960"/>
              </a:lnSpc>
            </a:pPr>
            <a:r>
              <a:rPr lang="en-US" b="true" sz="6400">
                <a:solidFill>
                  <a:srgbClr val="063E66"/>
                </a:solidFill>
                <a:latin typeface="Arimo Bold"/>
                <a:ea typeface="Arimo Bold"/>
                <a:cs typeface="Arimo Bold"/>
                <a:sym typeface="Arimo Bold"/>
              </a:rPr>
              <a:t>Cl</a:t>
            </a:r>
            <a:r>
              <a:rPr lang="en-US" b="true" sz="6400" u="none">
                <a:solidFill>
                  <a:srgbClr val="063E66"/>
                </a:solidFill>
                <a:latin typeface="Arimo Bold"/>
                <a:ea typeface="Arimo Bold"/>
                <a:cs typeface="Arimo Bold"/>
                <a:sym typeface="Arimo Bold"/>
              </a:rPr>
              <a:t>ass II Equipment</a:t>
            </a:r>
          </a:p>
        </p:txBody>
      </p:sp>
      <p:sp>
        <p:nvSpPr>
          <p:cNvPr name="TextBox 7" id="7"/>
          <p:cNvSpPr txBox="true"/>
          <p:nvPr/>
        </p:nvSpPr>
        <p:spPr>
          <a:xfrm rot="0">
            <a:off x="1028700" y="4897644"/>
            <a:ext cx="9055665" cy="1054100"/>
          </a:xfrm>
          <a:prstGeom prst="rect">
            <a:avLst/>
          </a:prstGeom>
        </p:spPr>
        <p:txBody>
          <a:bodyPr anchor="t" rtlCol="false" tIns="0" lIns="0" bIns="0" rIns="0">
            <a:spAutoFit/>
          </a:bodyPr>
          <a:lstStyle/>
          <a:p>
            <a:pPr algn="l">
              <a:lnSpc>
                <a:spcPts val="2800"/>
              </a:lnSpc>
              <a:spcBef>
                <a:spcPct val="0"/>
              </a:spcBef>
            </a:pPr>
            <a:r>
              <a:rPr lang="en-US" sz="2000">
                <a:solidFill>
                  <a:srgbClr val="063E66"/>
                </a:solidFill>
                <a:latin typeface="Arimo"/>
                <a:ea typeface="Arimo"/>
                <a:cs typeface="Arimo"/>
                <a:sym typeface="Arimo"/>
              </a:rPr>
              <a:t>“Electrical equipment in which protection against electric shock does not rely on basic insulation only; additional precautions such as double or reinforced insulation are provided, with no provision for protective earthing.” </a:t>
            </a:r>
          </a:p>
        </p:txBody>
      </p:sp>
      <p:sp>
        <p:nvSpPr>
          <p:cNvPr name="TextBox 8" id="8"/>
          <p:cNvSpPr txBox="true"/>
          <p:nvPr/>
        </p:nvSpPr>
        <p:spPr>
          <a:xfrm rot="0">
            <a:off x="1028700" y="6768136"/>
            <a:ext cx="2885974" cy="361189"/>
          </a:xfrm>
          <a:prstGeom prst="rect">
            <a:avLst/>
          </a:prstGeom>
        </p:spPr>
        <p:txBody>
          <a:bodyPr anchor="t" rtlCol="false" tIns="0" lIns="0" bIns="0" rIns="0">
            <a:spAutoFit/>
          </a:bodyPr>
          <a:lstStyle/>
          <a:p>
            <a:pPr algn="l" marL="0" indent="0" lvl="0">
              <a:lnSpc>
                <a:spcPts val="2736"/>
              </a:lnSpc>
              <a:spcBef>
                <a:spcPct val="0"/>
              </a:spcBef>
            </a:pPr>
            <a:r>
              <a:rPr lang="en-US" b="true" sz="2400">
                <a:solidFill>
                  <a:srgbClr val="063E66"/>
                </a:solidFill>
                <a:latin typeface="Arimo Bold"/>
                <a:ea typeface="Arimo Bold"/>
                <a:cs typeface="Arimo Bold"/>
                <a:sym typeface="Arimo Bold"/>
              </a:rPr>
              <a:t>Key idea: </a:t>
            </a:r>
          </a:p>
        </p:txBody>
      </p:sp>
      <p:sp>
        <p:nvSpPr>
          <p:cNvPr name="TextBox 9" id="9"/>
          <p:cNvSpPr txBox="true"/>
          <p:nvPr/>
        </p:nvSpPr>
        <p:spPr>
          <a:xfrm rot="0">
            <a:off x="1028700" y="7205525"/>
            <a:ext cx="7659402" cy="701675"/>
          </a:xfrm>
          <a:prstGeom prst="rect">
            <a:avLst/>
          </a:prstGeom>
        </p:spPr>
        <p:txBody>
          <a:bodyPr anchor="t" rtlCol="false" tIns="0" lIns="0" bIns="0" rIns="0">
            <a:spAutoFit/>
          </a:bodyPr>
          <a:lstStyle/>
          <a:p>
            <a:pPr algn="l" marL="0" indent="0" lvl="0">
              <a:lnSpc>
                <a:spcPts val="2800"/>
              </a:lnSpc>
              <a:spcBef>
                <a:spcPct val="0"/>
              </a:spcBef>
            </a:pPr>
            <a:r>
              <a:rPr lang="en-US" sz="2000" u="none">
                <a:solidFill>
                  <a:srgbClr val="063E66"/>
                </a:solidFill>
                <a:latin typeface="Arimo"/>
                <a:ea typeface="Arimo"/>
                <a:cs typeface="Arimo"/>
                <a:sym typeface="Arimo"/>
              </a:rPr>
              <a:t>Safety is achieved through insulation integrity, not earthing.</a:t>
            </a:r>
          </a:p>
          <a:p>
            <a:pPr algn="l" marL="0" indent="0" lvl="0">
              <a:lnSpc>
                <a:spcPts val="2800"/>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652878" y="4850475"/>
            <a:ext cx="16982245" cy="3487193"/>
            <a:chOff x="0" y="0"/>
            <a:chExt cx="4472690" cy="918438"/>
          </a:xfrm>
        </p:grpSpPr>
        <p:sp>
          <p:nvSpPr>
            <p:cNvPr name="Freeform 3" id="3"/>
            <p:cNvSpPr/>
            <p:nvPr/>
          </p:nvSpPr>
          <p:spPr>
            <a:xfrm flipH="false" flipV="false" rot="0">
              <a:off x="0" y="0"/>
              <a:ext cx="4472690" cy="918438"/>
            </a:xfrm>
            <a:custGeom>
              <a:avLst/>
              <a:gdLst/>
              <a:ahLst/>
              <a:cxnLst/>
              <a:rect r="r" b="b" t="t" l="l"/>
              <a:pathLst>
                <a:path h="918438" w="4472690">
                  <a:moveTo>
                    <a:pt x="0" y="0"/>
                  </a:moveTo>
                  <a:lnTo>
                    <a:pt x="4472690" y="0"/>
                  </a:lnTo>
                  <a:lnTo>
                    <a:pt x="4472690" y="918438"/>
                  </a:lnTo>
                  <a:lnTo>
                    <a:pt x="0" y="918438"/>
                  </a:lnTo>
                  <a:close/>
                </a:path>
              </a:pathLst>
            </a:custGeom>
            <a:solidFill>
              <a:srgbClr val="6FC696">
                <a:alpha val="23922"/>
              </a:srgbClr>
            </a:solidFill>
            <a:ln cap="sq">
              <a:noFill/>
              <a:prstDash val="solid"/>
              <a:miter/>
            </a:ln>
          </p:spPr>
        </p:sp>
        <p:sp>
          <p:nvSpPr>
            <p:cNvPr name="TextBox 4" id="4"/>
            <p:cNvSpPr txBox="true"/>
            <p:nvPr/>
          </p:nvSpPr>
          <p:spPr>
            <a:xfrm>
              <a:off x="0" y="-38100"/>
              <a:ext cx="4472690" cy="956538"/>
            </a:xfrm>
            <a:prstGeom prst="rect">
              <a:avLst/>
            </a:prstGeom>
          </p:spPr>
          <p:txBody>
            <a:bodyPr anchor="ctr" rtlCol="false" tIns="50800" lIns="50800" bIns="50800" rIns="50800"/>
            <a:lstStyle/>
            <a:p>
              <a:pPr algn="ctr" marL="0" indent="0" lvl="0">
                <a:lnSpc>
                  <a:spcPts val="2564"/>
                </a:lnSpc>
                <a:spcBef>
                  <a:spcPct val="0"/>
                </a:spcBef>
              </a:pPr>
            </a:p>
          </p:txBody>
        </p:sp>
      </p:grpSp>
      <p:grpSp>
        <p:nvGrpSpPr>
          <p:cNvPr name="Group 5" id="5"/>
          <p:cNvGrpSpPr/>
          <p:nvPr/>
        </p:nvGrpSpPr>
        <p:grpSpPr>
          <a:xfrm rot="0">
            <a:off x="15641823" y="9411558"/>
            <a:ext cx="4740040" cy="2431794"/>
            <a:chOff x="0" y="0"/>
            <a:chExt cx="1248406" cy="640473"/>
          </a:xfrm>
        </p:grpSpPr>
        <p:sp>
          <p:nvSpPr>
            <p:cNvPr name="Freeform 6" id="6"/>
            <p:cNvSpPr/>
            <p:nvPr/>
          </p:nvSpPr>
          <p:spPr>
            <a:xfrm flipH="false" flipV="false" rot="0">
              <a:off x="0" y="0"/>
              <a:ext cx="1248405" cy="640473"/>
            </a:xfrm>
            <a:custGeom>
              <a:avLst/>
              <a:gdLst/>
              <a:ahLst/>
              <a:cxnLst/>
              <a:rect r="r" b="b" t="t" l="l"/>
              <a:pathLst>
                <a:path h="640473" w="1248405">
                  <a:moveTo>
                    <a:pt x="0" y="0"/>
                  </a:moveTo>
                  <a:lnTo>
                    <a:pt x="1248405" y="0"/>
                  </a:lnTo>
                  <a:lnTo>
                    <a:pt x="1248405" y="640473"/>
                  </a:lnTo>
                  <a:lnTo>
                    <a:pt x="0" y="640473"/>
                  </a:lnTo>
                  <a:close/>
                </a:path>
              </a:pathLst>
            </a:custGeom>
            <a:solidFill>
              <a:srgbClr val="6FC696"/>
            </a:solidFill>
            <a:ln cap="sq">
              <a:noFill/>
              <a:prstDash val="solid"/>
              <a:miter/>
            </a:ln>
          </p:spPr>
        </p:sp>
        <p:sp>
          <p:nvSpPr>
            <p:cNvPr name="TextBox 7" id="7"/>
            <p:cNvSpPr txBox="true"/>
            <p:nvPr/>
          </p:nvSpPr>
          <p:spPr>
            <a:xfrm>
              <a:off x="0" y="-38100"/>
              <a:ext cx="1248406" cy="678573"/>
            </a:xfrm>
            <a:prstGeom prst="rect">
              <a:avLst/>
            </a:prstGeom>
          </p:spPr>
          <p:txBody>
            <a:bodyPr anchor="ctr" rtlCol="false" tIns="50800" lIns="50800" bIns="50800" rIns="50800"/>
            <a:lstStyle/>
            <a:p>
              <a:pPr algn="ctr" marL="0" indent="0" lvl="0">
                <a:lnSpc>
                  <a:spcPts val="2564"/>
                </a:lnSpc>
                <a:spcBef>
                  <a:spcPct val="0"/>
                </a:spcBef>
              </a:pPr>
            </a:p>
          </p:txBody>
        </p:sp>
      </p:grpSp>
      <p:graphicFrame>
        <p:nvGraphicFramePr>
          <p:cNvPr name="Table 8" id="8"/>
          <p:cNvGraphicFramePr>
            <a:graphicFrameLocks noGrp="true"/>
          </p:cNvGraphicFramePr>
          <p:nvPr/>
        </p:nvGraphicFramePr>
        <p:xfrm>
          <a:off x="652878" y="2133875"/>
          <a:ext cx="16982245" cy="2449190"/>
        </p:xfrm>
        <a:graphic>
          <a:graphicData uri="http://schemas.openxmlformats.org/drawingml/2006/table">
            <a:tbl>
              <a:tblPr/>
              <a:tblGrid>
                <a:gridCol w="8867790"/>
                <a:gridCol w="8114455"/>
              </a:tblGrid>
              <a:tr h="2449190">
                <a:tc>
                  <a:txBody>
                    <a:bodyPr anchor="t" rtlCol="false"/>
                    <a:lstStyle/>
                    <a:p>
                      <a:pPr algn="ctr">
                        <a:lnSpc>
                          <a:spcPts val="3499"/>
                        </a:lnSpc>
                        <a:defRPr/>
                      </a:pPr>
                      <a:r>
                        <a:rPr lang="en-US" b="true" sz="2499">
                          <a:solidFill>
                            <a:srgbClr val="063E66"/>
                          </a:solidFill>
                          <a:latin typeface="Arimo Bold"/>
                          <a:ea typeface="Arimo Bold"/>
                          <a:cs typeface="Arimo Bold"/>
                          <a:sym typeface="Arimo Bold"/>
                        </a:rPr>
                        <a:t>Basic insulation: </a:t>
                      </a:r>
                      <a:endParaRPr lang="en-US" sz="1100"/>
                    </a:p>
                    <a:p>
                      <a:pPr algn="l" marL="539743" indent="-269871" lvl="1">
                        <a:lnSpc>
                          <a:spcPts val="3499"/>
                        </a:lnSpc>
                        <a:buFont typeface="Arial"/>
                        <a:buChar char="•"/>
                      </a:pPr>
                      <a:r>
                        <a:rPr lang="en-US" sz="2499">
                          <a:solidFill>
                            <a:srgbClr val="000000"/>
                          </a:solidFill>
                          <a:latin typeface="Arimo"/>
                          <a:ea typeface="Arimo"/>
                          <a:cs typeface="Arimo"/>
                          <a:sym typeface="Arimo"/>
                        </a:rPr>
                        <a:t>Primary barrier between live conductors and accessible parts.</a:t>
                      </a:r>
                    </a:p>
                    <a:p>
                      <a:pPr algn="l" marL="539743" indent="-269871" lvl="1">
                        <a:lnSpc>
                          <a:spcPts val="3499"/>
                        </a:lnSpc>
                        <a:buFont typeface="Arial"/>
                        <a:buChar char="•"/>
                      </a:pPr>
                      <a:r>
                        <a:rPr lang="en-US" sz="2499">
                          <a:solidFill>
                            <a:srgbClr val="063E66"/>
                          </a:solidFill>
                          <a:latin typeface="Arimo"/>
                          <a:ea typeface="Arimo"/>
                          <a:cs typeface="Arimo"/>
                          <a:sym typeface="Arimo"/>
                        </a:rPr>
                        <a:t>Prevents electric shock in normal operating conditions.</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b="true" sz="2499">
                          <a:solidFill>
                            <a:srgbClr val="063E66"/>
                          </a:solidFill>
                          <a:latin typeface="Arimo Bold"/>
                          <a:ea typeface="Arimo Bold"/>
                          <a:cs typeface="Arimo Bold"/>
                          <a:sym typeface="Arimo Bold"/>
                        </a:rPr>
                        <a:t>Supplementary insulation: </a:t>
                      </a:r>
                      <a:endParaRPr lang="en-US" sz="1100"/>
                    </a:p>
                    <a:p>
                      <a:pPr algn="l" marL="539743" indent="-269871" lvl="1">
                        <a:lnSpc>
                          <a:spcPts val="3499"/>
                        </a:lnSpc>
                        <a:buFont typeface="Arial"/>
                        <a:buChar char="•"/>
                      </a:pPr>
                      <a:r>
                        <a:rPr lang="en-US" sz="2499">
                          <a:solidFill>
                            <a:srgbClr val="000000"/>
                          </a:solidFill>
                          <a:latin typeface="Arimo"/>
                          <a:ea typeface="Arimo"/>
                          <a:cs typeface="Arimo"/>
                          <a:sym typeface="Arimo"/>
                        </a:rPr>
                        <a:t>Independent second barrier added in case the basic insulation fails.</a:t>
                      </a:r>
                    </a:p>
                    <a:p>
                      <a:pPr algn="l" marL="539743" indent="-269871" lvl="1">
                        <a:lnSpc>
                          <a:spcPts val="3499"/>
                        </a:lnSpc>
                        <a:buFont typeface="Arial"/>
                        <a:buChar char="•"/>
                      </a:pPr>
                      <a:r>
                        <a:rPr lang="en-US" sz="2499">
                          <a:solidFill>
                            <a:srgbClr val="063E66"/>
                          </a:solidFill>
                          <a:latin typeface="Arimo"/>
                          <a:ea typeface="Arimo"/>
                          <a:cs typeface="Arimo"/>
                          <a:sym typeface="Arimo"/>
                        </a:rPr>
                        <a:t>Maintains safety under single-fault condition.</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9" id="9"/>
          <p:cNvSpPr txBox="true"/>
          <p:nvPr/>
        </p:nvSpPr>
        <p:spPr>
          <a:xfrm rot="0">
            <a:off x="2068263" y="371560"/>
            <a:ext cx="13573560" cy="1535049"/>
          </a:xfrm>
          <a:prstGeom prst="rect">
            <a:avLst/>
          </a:prstGeom>
        </p:spPr>
        <p:txBody>
          <a:bodyPr anchor="t" rtlCol="false" tIns="0" lIns="0" bIns="0" rIns="0">
            <a:spAutoFit/>
          </a:bodyPr>
          <a:lstStyle/>
          <a:p>
            <a:pPr algn="ctr" marL="0" indent="0" lvl="0">
              <a:lnSpc>
                <a:spcPts val="5928"/>
              </a:lnSpc>
              <a:spcBef>
                <a:spcPct val="0"/>
              </a:spcBef>
            </a:pPr>
            <a:r>
              <a:rPr lang="en-US" b="true" sz="5200" u="none">
                <a:solidFill>
                  <a:srgbClr val="063E66"/>
                </a:solidFill>
                <a:latin typeface="Arimo Bold"/>
                <a:ea typeface="Arimo Bold"/>
                <a:cs typeface="Arimo Bold"/>
                <a:sym typeface="Arimo Bold"/>
              </a:rPr>
              <a:t>Concept of </a:t>
            </a:r>
            <a:r>
              <a:rPr lang="en-US" b="true" sz="5200" u="none">
                <a:solidFill>
                  <a:srgbClr val="CD7F24"/>
                </a:solidFill>
                <a:latin typeface="Arimo Bold"/>
                <a:ea typeface="Arimo Bold"/>
                <a:cs typeface="Arimo Bold"/>
                <a:sym typeface="Arimo Bold"/>
              </a:rPr>
              <a:t>Double Insulation </a:t>
            </a:r>
          </a:p>
          <a:p>
            <a:pPr algn="ctr" marL="0" indent="0" lvl="0">
              <a:lnSpc>
                <a:spcPts val="5928"/>
              </a:lnSpc>
              <a:spcBef>
                <a:spcPct val="0"/>
              </a:spcBef>
            </a:pPr>
            <a:r>
              <a:rPr lang="en-US" b="true" sz="5200" u="none">
                <a:solidFill>
                  <a:srgbClr val="223E63"/>
                </a:solidFill>
                <a:latin typeface="Arimo Bold"/>
                <a:ea typeface="Arimo Bold"/>
                <a:cs typeface="Arimo Bold"/>
                <a:sym typeface="Arimo Bold"/>
              </a:rPr>
              <a:t>and</a:t>
            </a:r>
            <a:r>
              <a:rPr lang="en-US" b="true" sz="5200" u="none">
                <a:solidFill>
                  <a:srgbClr val="CD7F24"/>
                </a:solidFill>
                <a:latin typeface="Arimo Bold"/>
                <a:ea typeface="Arimo Bold"/>
                <a:cs typeface="Arimo Bold"/>
                <a:sym typeface="Arimo Bold"/>
              </a:rPr>
              <a:t> Reinforced Insulation</a:t>
            </a:r>
          </a:p>
        </p:txBody>
      </p:sp>
      <p:sp>
        <p:nvSpPr>
          <p:cNvPr name="TextBox 10" id="10"/>
          <p:cNvSpPr txBox="true"/>
          <p:nvPr/>
        </p:nvSpPr>
        <p:spPr>
          <a:xfrm rot="0">
            <a:off x="3542566" y="8556849"/>
            <a:ext cx="11202867" cy="1406525"/>
          </a:xfrm>
          <a:prstGeom prst="rect">
            <a:avLst/>
          </a:prstGeom>
        </p:spPr>
        <p:txBody>
          <a:bodyPr anchor="t" rtlCol="false" tIns="0" lIns="0" bIns="0" rIns="0">
            <a:spAutoFit/>
          </a:bodyPr>
          <a:lstStyle/>
          <a:p>
            <a:pPr algn="ctr">
              <a:lnSpc>
                <a:spcPts val="2800"/>
              </a:lnSpc>
            </a:pPr>
            <a:r>
              <a:rPr lang="en-US" b="true" sz="2000">
                <a:solidFill>
                  <a:srgbClr val="063E66"/>
                </a:solidFill>
                <a:latin typeface="Arimo Bold"/>
                <a:ea typeface="Arimo Bold"/>
                <a:cs typeface="Arimo Bold"/>
                <a:sym typeface="Arimo Bold"/>
              </a:rPr>
              <a:t>Safety Outcome</a:t>
            </a:r>
          </a:p>
          <a:p>
            <a:pPr algn="ctr">
              <a:lnSpc>
                <a:spcPts val="2800"/>
              </a:lnSpc>
            </a:pPr>
            <a:r>
              <a:rPr lang="en-US" sz="2000">
                <a:solidFill>
                  <a:srgbClr val="063E66"/>
                </a:solidFill>
                <a:latin typeface="Arimo"/>
                <a:ea typeface="Arimo"/>
                <a:cs typeface="Arimo"/>
                <a:sym typeface="Arimo"/>
              </a:rPr>
              <a:t>Even if one barrier breaks down, current cannot reach the patient or metal enclosure.Ensures continuous protection in both normal and fault conditions.</a:t>
            </a:r>
          </a:p>
          <a:p>
            <a:pPr algn="ctr">
              <a:lnSpc>
                <a:spcPts val="2800"/>
              </a:lnSpc>
            </a:pPr>
          </a:p>
        </p:txBody>
      </p:sp>
      <p:graphicFrame>
        <p:nvGraphicFramePr>
          <p:cNvPr name="Table 11" id="11"/>
          <p:cNvGraphicFramePr>
            <a:graphicFrameLocks noGrp="true"/>
          </p:cNvGraphicFramePr>
          <p:nvPr/>
        </p:nvGraphicFramePr>
        <p:xfrm>
          <a:off x="652878" y="4746849"/>
          <a:ext cx="16982245" cy="3590925"/>
        </p:xfrm>
        <a:graphic>
          <a:graphicData uri="http://schemas.openxmlformats.org/drawingml/2006/table">
            <a:tbl>
              <a:tblPr/>
              <a:tblGrid>
                <a:gridCol w="8867790"/>
                <a:gridCol w="8114455"/>
              </a:tblGrid>
              <a:tr h="3590925">
                <a:tc>
                  <a:txBody>
                    <a:bodyPr anchor="t" rtlCol="false"/>
                    <a:lstStyle/>
                    <a:p>
                      <a:pPr algn="ctr">
                        <a:lnSpc>
                          <a:spcPts val="3499"/>
                        </a:lnSpc>
                        <a:defRPr/>
                      </a:pPr>
                      <a:r>
                        <a:rPr lang="en-US" sz="2499" b="true">
                          <a:solidFill>
                            <a:srgbClr val="063E66"/>
                          </a:solidFill>
                          <a:latin typeface="Arimo Bold"/>
                          <a:ea typeface="Arimo Bold"/>
                          <a:cs typeface="Arimo Bold"/>
                          <a:sym typeface="Arimo Bold"/>
                        </a:rPr>
                        <a:t>Double</a:t>
                      </a:r>
                      <a:r>
                        <a:rPr lang="en-US" b="true" sz="2499">
                          <a:solidFill>
                            <a:srgbClr val="063E66"/>
                          </a:solidFill>
                          <a:latin typeface="Arimo Bold"/>
                          <a:ea typeface="Arimo Bold"/>
                          <a:cs typeface="Arimo Bold"/>
                          <a:sym typeface="Arimo Bold"/>
                        </a:rPr>
                        <a:t> Insulation</a:t>
                      </a:r>
                      <a:endParaRPr lang="en-US" sz="1100"/>
                    </a:p>
                    <a:p>
                      <a:pPr algn="just" marL="539743" indent="-269871" lvl="1">
                        <a:lnSpc>
                          <a:spcPts val="3499"/>
                        </a:lnSpc>
                        <a:buFont typeface="Arial"/>
                        <a:buChar char="•"/>
                      </a:pPr>
                      <a:r>
                        <a:rPr lang="en-US" sz="2499">
                          <a:solidFill>
                            <a:srgbClr val="000000"/>
                          </a:solidFill>
                          <a:latin typeface="Arimo"/>
                          <a:ea typeface="Arimo"/>
                          <a:cs typeface="Arimo"/>
                          <a:sym typeface="Arimo"/>
                        </a:rPr>
                        <a:t>Co</a:t>
                      </a:r>
                      <a:r>
                        <a:rPr lang="en-US" sz="2499">
                          <a:solidFill>
                            <a:srgbClr val="000000"/>
                          </a:solidFill>
                          <a:latin typeface="Arimo"/>
                          <a:ea typeface="Arimo"/>
                          <a:cs typeface="Arimo"/>
                          <a:sym typeface="Arimo"/>
                        </a:rPr>
                        <a:t>mbination of </a:t>
                      </a:r>
                      <a:r>
                        <a:rPr lang="en-US" b="true" sz="2499">
                          <a:solidFill>
                            <a:srgbClr val="000000"/>
                          </a:solidFill>
                          <a:latin typeface="Arimo Bold"/>
                          <a:ea typeface="Arimo Bold"/>
                          <a:cs typeface="Arimo Bold"/>
                          <a:sym typeface="Arimo Bold"/>
                        </a:rPr>
                        <a:t>basic + supplementary</a:t>
                      </a:r>
                      <a:r>
                        <a:rPr lang="en-US" sz="2499">
                          <a:solidFill>
                            <a:srgbClr val="000000"/>
                          </a:solidFill>
                          <a:latin typeface="Arimo"/>
                          <a:ea typeface="Arimo"/>
                          <a:cs typeface="Arimo"/>
                          <a:sym typeface="Arimo"/>
                        </a:rPr>
                        <a:t> insulation.</a:t>
                      </a:r>
                    </a:p>
                    <a:p>
                      <a:pPr algn="just" marL="539743" indent="-269871" lvl="1">
                        <a:lnSpc>
                          <a:spcPts val="3499"/>
                        </a:lnSpc>
                        <a:buFont typeface="Arial"/>
                        <a:buChar char="•"/>
                      </a:pPr>
                      <a:r>
                        <a:rPr lang="en-US" sz="2499">
                          <a:solidFill>
                            <a:srgbClr val="063E66"/>
                          </a:solidFill>
                          <a:latin typeface="Arimo"/>
                          <a:ea typeface="Arimo"/>
                          <a:cs typeface="Arimo"/>
                          <a:sym typeface="Arimo"/>
                        </a:rPr>
                        <a:t>Provides two Means of Protection (MOP) against electric shock.</a:t>
                      </a:r>
                    </a:p>
                    <a:p>
                      <a:pPr algn="just" marL="539743" indent="-269871" lvl="1">
                        <a:lnSpc>
                          <a:spcPts val="3499"/>
                        </a:lnSpc>
                        <a:buFont typeface="Arial"/>
                        <a:buChar char="•"/>
                      </a:pPr>
                      <a:r>
                        <a:rPr lang="en-US" sz="2499">
                          <a:solidFill>
                            <a:srgbClr val="000000"/>
                          </a:solidFill>
                          <a:latin typeface="Arimo"/>
                          <a:ea typeface="Arimo"/>
                          <a:cs typeface="Arimo"/>
                          <a:sym typeface="Arimo"/>
                        </a:rPr>
                        <a:t>Common in plastic-housed portable devices (e.g., monitors, pumps).</a:t>
                      </a:r>
                    </a:p>
                    <a:p>
                      <a:pPr algn="just">
                        <a:lnSpc>
                          <a:spcPts val="3499"/>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b="true">
                          <a:solidFill>
                            <a:srgbClr val="223E63"/>
                          </a:solidFill>
                          <a:latin typeface="Arimo Bold"/>
                          <a:ea typeface="Arimo Bold"/>
                          <a:cs typeface="Arimo Bold"/>
                          <a:sym typeface="Arimo Bold"/>
                        </a:rPr>
                        <a:t>Reinforced Insulation</a:t>
                      </a:r>
                      <a:endParaRPr lang="en-US" sz="1100"/>
                    </a:p>
                    <a:p>
                      <a:pPr algn="l" marL="539749" indent="-269875" lvl="1">
                        <a:lnSpc>
                          <a:spcPts val="3499"/>
                        </a:lnSpc>
                        <a:buFont typeface="Arial"/>
                        <a:buChar char="•"/>
                      </a:pPr>
                      <a:r>
                        <a:rPr lang="en-US" sz="2499">
                          <a:solidFill>
                            <a:srgbClr val="000000"/>
                          </a:solidFill>
                          <a:latin typeface="Arimo"/>
                          <a:ea typeface="Arimo"/>
                          <a:cs typeface="Arimo"/>
                          <a:sym typeface="Arimo"/>
                        </a:rPr>
                        <a:t>A </a:t>
                      </a:r>
                      <a:r>
                        <a:rPr lang="en-US" b="true" sz="2499">
                          <a:solidFill>
                            <a:srgbClr val="000000"/>
                          </a:solidFill>
                          <a:latin typeface="Arimo Bold"/>
                          <a:ea typeface="Arimo Bold"/>
                          <a:cs typeface="Arimo Bold"/>
                          <a:sym typeface="Arimo Bold"/>
                        </a:rPr>
                        <a:t>single insulation system</a:t>
                      </a:r>
                      <a:r>
                        <a:rPr lang="en-US" sz="2499">
                          <a:solidFill>
                            <a:srgbClr val="000000"/>
                          </a:solidFill>
                          <a:latin typeface="Arimo"/>
                          <a:ea typeface="Arimo"/>
                          <a:cs typeface="Arimo"/>
                          <a:sym typeface="Arimo"/>
                        </a:rPr>
                        <a:t> designed and tested to provide </a:t>
                      </a:r>
                      <a:r>
                        <a:rPr lang="en-US" b="true" sz="2499">
                          <a:solidFill>
                            <a:srgbClr val="000000"/>
                          </a:solidFill>
                          <a:latin typeface="Arimo Bold"/>
                          <a:ea typeface="Arimo Bold"/>
                          <a:cs typeface="Arimo Bold"/>
                          <a:sym typeface="Arimo Bold"/>
                        </a:rPr>
                        <a:t>the same protection as double insulation</a:t>
                      </a:r>
                      <a:r>
                        <a:rPr lang="en-US" sz="2499">
                          <a:solidFill>
                            <a:srgbClr val="000000"/>
                          </a:solidFill>
                          <a:latin typeface="Arimo"/>
                          <a:ea typeface="Arimo"/>
                          <a:cs typeface="Arimo"/>
                          <a:sym typeface="Arimo"/>
                        </a:rPr>
                        <a:t>.</a:t>
                      </a:r>
                    </a:p>
                    <a:p>
                      <a:pPr algn="l" marL="539749" indent="-269875" lvl="1">
                        <a:lnSpc>
                          <a:spcPts val="3499"/>
                        </a:lnSpc>
                        <a:buFont typeface="Arial"/>
                        <a:buChar char="•"/>
                      </a:pPr>
                      <a:r>
                        <a:rPr lang="en-US" sz="2499">
                          <a:solidFill>
                            <a:srgbClr val="063E66"/>
                          </a:solidFill>
                          <a:latin typeface="Arimo"/>
                          <a:ea typeface="Arimo"/>
                          <a:cs typeface="Arimo"/>
                          <a:sym typeface="Arimo"/>
                        </a:rPr>
                        <a:t>Saves space while offering </a:t>
                      </a:r>
                      <a:r>
                        <a:rPr lang="en-US" b="true" sz="2499">
                          <a:solidFill>
                            <a:srgbClr val="063E66"/>
                          </a:solidFill>
                          <a:latin typeface="Arimo Bold"/>
                          <a:ea typeface="Arimo Bold"/>
                          <a:cs typeface="Arimo Bold"/>
                          <a:sym typeface="Arimo Bold"/>
                        </a:rPr>
                        <a:t>two MOP in one layer</a:t>
                      </a:r>
                      <a:r>
                        <a:rPr lang="en-US" sz="2499">
                          <a:solidFill>
                            <a:srgbClr val="063E66"/>
                          </a:solidFill>
                          <a:latin typeface="Arimo"/>
                          <a:ea typeface="Arimo"/>
                          <a:cs typeface="Arimo"/>
                          <a:sym typeface="Arimo"/>
                        </a:rPr>
                        <a:t> (used in transformers, cables, PCB layouts).</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3110479"/>
            <a:ext cx="7326155" cy="2036826"/>
            <a:chOff x="0" y="0"/>
            <a:chExt cx="1507439" cy="419100"/>
          </a:xfrm>
        </p:grpSpPr>
        <p:sp>
          <p:nvSpPr>
            <p:cNvPr name="Freeform 3" id="3"/>
            <p:cNvSpPr/>
            <p:nvPr/>
          </p:nvSpPr>
          <p:spPr>
            <a:xfrm flipH="false" flipV="false" rot="0">
              <a:off x="0" y="0"/>
              <a:ext cx="1507439" cy="419100"/>
            </a:xfrm>
            <a:custGeom>
              <a:avLst/>
              <a:gdLst/>
              <a:ahLst/>
              <a:cxnLst/>
              <a:rect r="r" b="b" t="t" l="l"/>
              <a:pathLst>
                <a:path h="419100" w="1507439">
                  <a:moveTo>
                    <a:pt x="20640" y="0"/>
                  </a:moveTo>
                  <a:lnTo>
                    <a:pt x="1486800" y="0"/>
                  </a:lnTo>
                  <a:cubicBezTo>
                    <a:pt x="1498199" y="0"/>
                    <a:pt x="1507439" y="9241"/>
                    <a:pt x="1507439" y="20640"/>
                  </a:cubicBezTo>
                  <a:lnTo>
                    <a:pt x="1507439" y="398460"/>
                  </a:lnTo>
                  <a:cubicBezTo>
                    <a:pt x="1507439" y="409859"/>
                    <a:pt x="1498199" y="419100"/>
                    <a:pt x="1486800" y="419100"/>
                  </a:cubicBezTo>
                  <a:lnTo>
                    <a:pt x="20640" y="419100"/>
                  </a:lnTo>
                  <a:cubicBezTo>
                    <a:pt x="9241" y="419100"/>
                    <a:pt x="0" y="409859"/>
                    <a:pt x="0" y="398460"/>
                  </a:cubicBezTo>
                  <a:lnTo>
                    <a:pt x="0" y="20640"/>
                  </a:lnTo>
                  <a:cubicBezTo>
                    <a:pt x="0" y="9241"/>
                    <a:pt x="9241" y="0"/>
                    <a:pt x="20640" y="0"/>
                  </a:cubicBezTo>
                  <a:close/>
                </a:path>
              </a:pathLst>
            </a:custGeom>
            <a:solidFill>
              <a:srgbClr val="D6F6E4"/>
            </a:solidFill>
            <a:ln w="57150" cap="rnd">
              <a:solidFill>
                <a:srgbClr val="195759"/>
              </a:solidFill>
              <a:prstDash val="solid"/>
              <a:round/>
            </a:ln>
          </p:spPr>
        </p:sp>
        <p:sp>
          <p:nvSpPr>
            <p:cNvPr name="TextBox 4" id="4"/>
            <p:cNvSpPr txBox="true"/>
            <p:nvPr/>
          </p:nvSpPr>
          <p:spPr>
            <a:xfrm>
              <a:off x="0" y="-38100"/>
              <a:ext cx="1507439" cy="457200"/>
            </a:xfrm>
            <a:prstGeom prst="rect">
              <a:avLst/>
            </a:prstGeom>
          </p:spPr>
          <p:txBody>
            <a:bodyPr anchor="ctr" rtlCol="false" tIns="50800" lIns="50800" bIns="50800" rIns="50800"/>
            <a:lstStyle/>
            <a:p>
              <a:pPr algn="ctr">
                <a:lnSpc>
                  <a:spcPts val="2564"/>
                </a:lnSpc>
              </a:pPr>
            </a:p>
          </p:txBody>
        </p:sp>
      </p:grpSp>
      <p:sp>
        <p:nvSpPr>
          <p:cNvPr name="Freeform 5" id="5"/>
          <p:cNvSpPr/>
          <p:nvPr/>
        </p:nvSpPr>
        <p:spPr>
          <a:xfrm flipH="false" flipV="false" rot="0">
            <a:off x="1377222" y="3273636"/>
            <a:ext cx="682574" cy="682574"/>
          </a:xfrm>
          <a:custGeom>
            <a:avLst/>
            <a:gdLst/>
            <a:ahLst/>
            <a:cxnLst/>
            <a:rect r="r" b="b" t="t" l="l"/>
            <a:pathLst>
              <a:path h="682574" w="682574">
                <a:moveTo>
                  <a:pt x="0" y="0"/>
                </a:moveTo>
                <a:lnTo>
                  <a:pt x="682574" y="0"/>
                </a:lnTo>
                <a:lnTo>
                  <a:pt x="682574" y="682574"/>
                </a:lnTo>
                <a:lnTo>
                  <a:pt x="0" y="6825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9497306" y="3110479"/>
            <a:ext cx="7761994" cy="1962273"/>
            <a:chOff x="0" y="0"/>
            <a:chExt cx="1597118" cy="403760"/>
          </a:xfrm>
        </p:grpSpPr>
        <p:sp>
          <p:nvSpPr>
            <p:cNvPr name="Freeform 7" id="7"/>
            <p:cNvSpPr/>
            <p:nvPr/>
          </p:nvSpPr>
          <p:spPr>
            <a:xfrm flipH="false" flipV="false" rot="0">
              <a:off x="0" y="0"/>
              <a:ext cx="1597118" cy="403760"/>
            </a:xfrm>
            <a:custGeom>
              <a:avLst/>
              <a:gdLst/>
              <a:ahLst/>
              <a:cxnLst/>
              <a:rect r="r" b="b" t="t" l="l"/>
              <a:pathLst>
                <a:path h="403760" w="1597118">
                  <a:moveTo>
                    <a:pt x="19481" y="0"/>
                  </a:moveTo>
                  <a:lnTo>
                    <a:pt x="1577637" y="0"/>
                  </a:lnTo>
                  <a:cubicBezTo>
                    <a:pt x="1588396" y="0"/>
                    <a:pt x="1597118" y="8722"/>
                    <a:pt x="1597118" y="19481"/>
                  </a:cubicBezTo>
                  <a:lnTo>
                    <a:pt x="1597118" y="384279"/>
                  </a:lnTo>
                  <a:cubicBezTo>
                    <a:pt x="1597118" y="395038"/>
                    <a:pt x="1588396" y="403760"/>
                    <a:pt x="1577637" y="403760"/>
                  </a:cubicBezTo>
                  <a:lnTo>
                    <a:pt x="19481" y="403760"/>
                  </a:lnTo>
                  <a:cubicBezTo>
                    <a:pt x="8722" y="403760"/>
                    <a:pt x="0" y="395038"/>
                    <a:pt x="0" y="384279"/>
                  </a:cubicBezTo>
                  <a:lnTo>
                    <a:pt x="0" y="19481"/>
                  </a:lnTo>
                  <a:cubicBezTo>
                    <a:pt x="0" y="8722"/>
                    <a:pt x="8722" y="0"/>
                    <a:pt x="19481" y="0"/>
                  </a:cubicBezTo>
                  <a:close/>
                </a:path>
              </a:pathLst>
            </a:custGeom>
            <a:solidFill>
              <a:srgbClr val="D6F6E4"/>
            </a:solidFill>
            <a:ln w="57150" cap="rnd">
              <a:solidFill>
                <a:srgbClr val="195759"/>
              </a:solidFill>
              <a:prstDash val="solid"/>
              <a:round/>
            </a:ln>
          </p:spPr>
        </p:sp>
        <p:sp>
          <p:nvSpPr>
            <p:cNvPr name="TextBox 8" id="8"/>
            <p:cNvSpPr txBox="true"/>
            <p:nvPr/>
          </p:nvSpPr>
          <p:spPr>
            <a:xfrm>
              <a:off x="0" y="-38100"/>
              <a:ext cx="1597118" cy="441860"/>
            </a:xfrm>
            <a:prstGeom prst="rect">
              <a:avLst/>
            </a:prstGeom>
          </p:spPr>
          <p:txBody>
            <a:bodyPr anchor="ctr" rtlCol="false" tIns="50800" lIns="50800" bIns="50800" rIns="50800"/>
            <a:lstStyle/>
            <a:p>
              <a:pPr algn="ctr">
                <a:lnSpc>
                  <a:spcPts val="2564"/>
                </a:lnSpc>
              </a:pPr>
            </a:p>
          </p:txBody>
        </p:sp>
      </p:grpSp>
      <p:sp>
        <p:nvSpPr>
          <p:cNvPr name="Freeform 9" id="9"/>
          <p:cNvSpPr/>
          <p:nvPr/>
        </p:nvSpPr>
        <p:spPr>
          <a:xfrm flipH="false" flipV="false" rot="0">
            <a:off x="10339959" y="3268658"/>
            <a:ext cx="711445" cy="711445"/>
          </a:xfrm>
          <a:custGeom>
            <a:avLst/>
            <a:gdLst/>
            <a:ahLst/>
            <a:cxnLst/>
            <a:rect r="r" b="b" t="t" l="l"/>
            <a:pathLst>
              <a:path h="711445" w="711445">
                <a:moveTo>
                  <a:pt x="0" y="0"/>
                </a:moveTo>
                <a:lnTo>
                  <a:pt x="711445" y="0"/>
                </a:lnTo>
                <a:lnTo>
                  <a:pt x="711445" y="711444"/>
                </a:lnTo>
                <a:lnTo>
                  <a:pt x="0" y="7114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5838520" y="5380019"/>
            <a:ext cx="6572860" cy="1550272"/>
            <a:chOff x="0" y="0"/>
            <a:chExt cx="1352440" cy="318986"/>
          </a:xfrm>
        </p:grpSpPr>
        <p:sp>
          <p:nvSpPr>
            <p:cNvPr name="Freeform 11" id="11"/>
            <p:cNvSpPr/>
            <p:nvPr/>
          </p:nvSpPr>
          <p:spPr>
            <a:xfrm flipH="false" flipV="false" rot="0">
              <a:off x="0" y="0"/>
              <a:ext cx="1352440" cy="318986"/>
            </a:xfrm>
            <a:custGeom>
              <a:avLst/>
              <a:gdLst/>
              <a:ahLst/>
              <a:cxnLst/>
              <a:rect r="r" b="b" t="t" l="l"/>
              <a:pathLst>
                <a:path h="318986" w="1352440">
                  <a:moveTo>
                    <a:pt x="23005" y="0"/>
                  </a:moveTo>
                  <a:lnTo>
                    <a:pt x="1329435" y="0"/>
                  </a:lnTo>
                  <a:cubicBezTo>
                    <a:pt x="1342141" y="0"/>
                    <a:pt x="1352440" y="10300"/>
                    <a:pt x="1352440" y="23005"/>
                  </a:cubicBezTo>
                  <a:lnTo>
                    <a:pt x="1352440" y="295981"/>
                  </a:lnTo>
                  <a:cubicBezTo>
                    <a:pt x="1352440" y="308686"/>
                    <a:pt x="1342141" y="318986"/>
                    <a:pt x="1329435" y="318986"/>
                  </a:cubicBezTo>
                  <a:lnTo>
                    <a:pt x="23005" y="318986"/>
                  </a:lnTo>
                  <a:cubicBezTo>
                    <a:pt x="10300" y="318986"/>
                    <a:pt x="0" y="308686"/>
                    <a:pt x="0" y="295981"/>
                  </a:cubicBezTo>
                  <a:lnTo>
                    <a:pt x="0" y="23005"/>
                  </a:lnTo>
                  <a:cubicBezTo>
                    <a:pt x="0" y="10300"/>
                    <a:pt x="10300" y="0"/>
                    <a:pt x="23005" y="0"/>
                  </a:cubicBezTo>
                  <a:close/>
                </a:path>
              </a:pathLst>
            </a:custGeom>
            <a:solidFill>
              <a:srgbClr val="D6F6E4"/>
            </a:solidFill>
            <a:ln w="57150" cap="rnd">
              <a:solidFill>
                <a:srgbClr val="195759"/>
              </a:solidFill>
              <a:prstDash val="solid"/>
              <a:round/>
            </a:ln>
          </p:spPr>
        </p:sp>
        <p:sp>
          <p:nvSpPr>
            <p:cNvPr name="TextBox 12" id="12"/>
            <p:cNvSpPr txBox="true"/>
            <p:nvPr/>
          </p:nvSpPr>
          <p:spPr>
            <a:xfrm>
              <a:off x="0" y="-38100"/>
              <a:ext cx="1352440" cy="357086"/>
            </a:xfrm>
            <a:prstGeom prst="rect">
              <a:avLst/>
            </a:prstGeom>
          </p:spPr>
          <p:txBody>
            <a:bodyPr anchor="ctr" rtlCol="false" tIns="50800" lIns="50800" bIns="50800" rIns="50800"/>
            <a:lstStyle/>
            <a:p>
              <a:pPr algn="ctr">
                <a:lnSpc>
                  <a:spcPts val="2564"/>
                </a:lnSpc>
              </a:pPr>
            </a:p>
          </p:txBody>
        </p:sp>
      </p:grpSp>
      <p:sp>
        <p:nvSpPr>
          <p:cNvPr name="Freeform 13" id="13"/>
          <p:cNvSpPr/>
          <p:nvPr/>
        </p:nvSpPr>
        <p:spPr>
          <a:xfrm flipH="false" flipV="false" rot="0">
            <a:off x="6295312" y="5519979"/>
            <a:ext cx="682574" cy="682574"/>
          </a:xfrm>
          <a:custGeom>
            <a:avLst/>
            <a:gdLst/>
            <a:ahLst/>
            <a:cxnLst/>
            <a:rect r="r" b="b" t="t" l="l"/>
            <a:pathLst>
              <a:path h="682574" w="682574">
                <a:moveTo>
                  <a:pt x="0" y="0"/>
                </a:moveTo>
                <a:lnTo>
                  <a:pt x="682574" y="0"/>
                </a:lnTo>
                <a:lnTo>
                  <a:pt x="682574" y="682573"/>
                </a:lnTo>
                <a:lnTo>
                  <a:pt x="0" y="68257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4" id="14"/>
          <p:cNvGrpSpPr/>
          <p:nvPr/>
        </p:nvGrpSpPr>
        <p:grpSpPr>
          <a:xfrm rot="0">
            <a:off x="3097482" y="7384500"/>
            <a:ext cx="5201976" cy="2043539"/>
            <a:chOff x="0" y="0"/>
            <a:chExt cx="1070365" cy="420481"/>
          </a:xfrm>
        </p:grpSpPr>
        <p:sp>
          <p:nvSpPr>
            <p:cNvPr name="Freeform 15" id="15"/>
            <p:cNvSpPr/>
            <p:nvPr/>
          </p:nvSpPr>
          <p:spPr>
            <a:xfrm flipH="false" flipV="false" rot="0">
              <a:off x="0" y="0"/>
              <a:ext cx="1070365" cy="420481"/>
            </a:xfrm>
            <a:custGeom>
              <a:avLst/>
              <a:gdLst/>
              <a:ahLst/>
              <a:cxnLst/>
              <a:rect r="r" b="b" t="t" l="l"/>
              <a:pathLst>
                <a:path h="420481" w="1070365">
                  <a:moveTo>
                    <a:pt x="29068" y="0"/>
                  </a:moveTo>
                  <a:lnTo>
                    <a:pt x="1041298" y="0"/>
                  </a:lnTo>
                  <a:cubicBezTo>
                    <a:pt x="1057351" y="0"/>
                    <a:pt x="1070365" y="13014"/>
                    <a:pt x="1070365" y="29068"/>
                  </a:cubicBezTo>
                  <a:lnTo>
                    <a:pt x="1070365" y="391414"/>
                  </a:lnTo>
                  <a:cubicBezTo>
                    <a:pt x="1070365" y="399123"/>
                    <a:pt x="1067303" y="406516"/>
                    <a:pt x="1061852" y="411968"/>
                  </a:cubicBezTo>
                  <a:cubicBezTo>
                    <a:pt x="1056400" y="417419"/>
                    <a:pt x="1049007" y="420481"/>
                    <a:pt x="1041298" y="420481"/>
                  </a:cubicBezTo>
                  <a:lnTo>
                    <a:pt x="29068" y="420481"/>
                  </a:lnTo>
                  <a:cubicBezTo>
                    <a:pt x="13014" y="420481"/>
                    <a:pt x="0" y="407467"/>
                    <a:pt x="0" y="391414"/>
                  </a:cubicBezTo>
                  <a:lnTo>
                    <a:pt x="0" y="29068"/>
                  </a:lnTo>
                  <a:cubicBezTo>
                    <a:pt x="0" y="21358"/>
                    <a:pt x="3062" y="13965"/>
                    <a:pt x="8514" y="8514"/>
                  </a:cubicBezTo>
                  <a:cubicBezTo>
                    <a:pt x="13965" y="3062"/>
                    <a:pt x="21358" y="0"/>
                    <a:pt x="29068" y="0"/>
                  </a:cubicBezTo>
                  <a:close/>
                </a:path>
              </a:pathLst>
            </a:custGeom>
            <a:solidFill>
              <a:srgbClr val="D6F6E4"/>
            </a:solidFill>
            <a:ln w="57150" cap="rnd">
              <a:solidFill>
                <a:srgbClr val="195759"/>
              </a:solidFill>
              <a:prstDash val="solid"/>
              <a:round/>
            </a:ln>
          </p:spPr>
        </p:sp>
        <p:sp>
          <p:nvSpPr>
            <p:cNvPr name="TextBox 16" id="16"/>
            <p:cNvSpPr txBox="true"/>
            <p:nvPr/>
          </p:nvSpPr>
          <p:spPr>
            <a:xfrm>
              <a:off x="0" y="-38100"/>
              <a:ext cx="1070365" cy="458581"/>
            </a:xfrm>
            <a:prstGeom prst="rect">
              <a:avLst/>
            </a:prstGeom>
          </p:spPr>
          <p:txBody>
            <a:bodyPr anchor="ctr" rtlCol="false" tIns="50800" lIns="50800" bIns="50800" rIns="50800"/>
            <a:lstStyle/>
            <a:p>
              <a:pPr algn="ctr">
                <a:lnSpc>
                  <a:spcPts val="2564"/>
                </a:lnSpc>
              </a:pPr>
            </a:p>
          </p:txBody>
        </p:sp>
      </p:grpSp>
      <p:sp>
        <p:nvSpPr>
          <p:cNvPr name="Freeform 17" id="17"/>
          <p:cNvSpPr/>
          <p:nvPr/>
        </p:nvSpPr>
        <p:spPr>
          <a:xfrm flipH="false" flipV="false" rot="0">
            <a:off x="3815881" y="7525218"/>
            <a:ext cx="682574" cy="682574"/>
          </a:xfrm>
          <a:custGeom>
            <a:avLst/>
            <a:gdLst/>
            <a:ahLst/>
            <a:cxnLst/>
            <a:rect r="r" b="b" t="t" l="l"/>
            <a:pathLst>
              <a:path h="682574" w="682574">
                <a:moveTo>
                  <a:pt x="0" y="0"/>
                </a:moveTo>
                <a:lnTo>
                  <a:pt x="682574" y="0"/>
                </a:lnTo>
                <a:lnTo>
                  <a:pt x="682574" y="682573"/>
                </a:lnTo>
                <a:lnTo>
                  <a:pt x="0" y="68257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8" id="18"/>
          <p:cNvGrpSpPr/>
          <p:nvPr/>
        </p:nvGrpSpPr>
        <p:grpSpPr>
          <a:xfrm rot="0">
            <a:off x="9734278" y="7295585"/>
            <a:ext cx="6659252" cy="2221368"/>
            <a:chOff x="0" y="0"/>
            <a:chExt cx="1370216" cy="457072"/>
          </a:xfrm>
        </p:grpSpPr>
        <p:sp>
          <p:nvSpPr>
            <p:cNvPr name="Freeform 19" id="19"/>
            <p:cNvSpPr/>
            <p:nvPr/>
          </p:nvSpPr>
          <p:spPr>
            <a:xfrm flipH="false" flipV="false" rot="0">
              <a:off x="0" y="0"/>
              <a:ext cx="1370216" cy="457072"/>
            </a:xfrm>
            <a:custGeom>
              <a:avLst/>
              <a:gdLst/>
              <a:ahLst/>
              <a:cxnLst/>
              <a:rect r="r" b="b" t="t" l="l"/>
              <a:pathLst>
                <a:path h="457072" w="1370216">
                  <a:moveTo>
                    <a:pt x="22707" y="0"/>
                  </a:moveTo>
                  <a:lnTo>
                    <a:pt x="1347510" y="0"/>
                  </a:lnTo>
                  <a:cubicBezTo>
                    <a:pt x="1353532" y="0"/>
                    <a:pt x="1359308" y="2392"/>
                    <a:pt x="1363566" y="6651"/>
                  </a:cubicBezTo>
                  <a:cubicBezTo>
                    <a:pt x="1367824" y="10909"/>
                    <a:pt x="1370216" y="16684"/>
                    <a:pt x="1370216" y="22707"/>
                  </a:cubicBezTo>
                  <a:lnTo>
                    <a:pt x="1370216" y="434365"/>
                  </a:lnTo>
                  <a:cubicBezTo>
                    <a:pt x="1370216" y="440387"/>
                    <a:pt x="1367824" y="446163"/>
                    <a:pt x="1363566" y="450421"/>
                  </a:cubicBezTo>
                  <a:cubicBezTo>
                    <a:pt x="1359308" y="454679"/>
                    <a:pt x="1353532" y="457072"/>
                    <a:pt x="1347510" y="457072"/>
                  </a:cubicBezTo>
                  <a:lnTo>
                    <a:pt x="22707" y="457072"/>
                  </a:lnTo>
                  <a:cubicBezTo>
                    <a:pt x="16684" y="457072"/>
                    <a:pt x="10909" y="454679"/>
                    <a:pt x="6651" y="450421"/>
                  </a:cubicBezTo>
                  <a:cubicBezTo>
                    <a:pt x="2392" y="446163"/>
                    <a:pt x="0" y="440387"/>
                    <a:pt x="0" y="434365"/>
                  </a:cubicBezTo>
                  <a:lnTo>
                    <a:pt x="0" y="22707"/>
                  </a:lnTo>
                  <a:cubicBezTo>
                    <a:pt x="0" y="16684"/>
                    <a:pt x="2392" y="10909"/>
                    <a:pt x="6651" y="6651"/>
                  </a:cubicBezTo>
                  <a:cubicBezTo>
                    <a:pt x="10909" y="2392"/>
                    <a:pt x="16684" y="0"/>
                    <a:pt x="22707" y="0"/>
                  </a:cubicBezTo>
                  <a:close/>
                </a:path>
              </a:pathLst>
            </a:custGeom>
            <a:solidFill>
              <a:srgbClr val="D6F6E4"/>
            </a:solidFill>
            <a:ln w="57150" cap="rnd">
              <a:solidFill>
                <a:srgbClr val="195759"/>
              </a:solidFill>
              <a:prstDash val="solid"/>
              <a:round/>
            </a:ln>
          </p:spPr>
        </p:sp>
        <p:sp>
          <p:nvSpPr>
            <p:cNvPr name="TextBox 20" id="20"/>
            <p:cNvSpPr txBox="true"/>
            <p:nvPr/>
          </p:nvSpPr>
          <p:spPr>
            <a:xfrm>
              <a:off x="0" y="-38100"/>
              <a:ext cx="1370216" cy="495172"/>
            </a:xfrm>
            <a:prstGeom prst="rect">
              <a:avLst/>
            </a:prstGeom>
          </p:spPr>
          <p:txBody>
            <a:bodyPr anchor="ctr" rtlCol="false" tIns="50800" lIns="50800" bIns="50800" rIns="50800"/>
            <a:lstStyle/>
            <a:p>
              <a:pPr algn="ctr">
                <a:lnSpc>
                  <a:spcPts val="2564"/>
                </a:lnSpc>
              </a:pPr>
            </a:p>
          </p:txBody>
        </p:sp>
      </p:grpSp>
      <p:sp>
        <p:nvSpPr>
          <p:cNvPr name="Freeform 21" id="21"/>
          <p:cNvSpPr/>
          <p:nvPr/>
        </p:nvSpPr>
        <p:spPr>
          <a:xfrm flipH="false" flipV="false" rot="0">
            <a:off x="10881404" y="7525218"/>
            <a:ext cx="682574" cy="682574"/>
          </a:xfrm>
          <a:custGeom>
            <a:avLst/>
            <a:gdLst/>
            <a:ahLst/>
            <a:cxnLst/>
            <a:rect r="r" b="b" t="t" l="l"/>
            <a:pathLst>
              <a:path h="682574" w="682574">
                <a:moveTo>
                  <a:pt x="0" y="0"/>
                </a:moveTo>
                <a:lnTo>
                  <a:pt x="682573" y="0"/>
                </a:lnTo>
                <a:lnTo>
                  <a:pt x="682573" y="682573"/>
                </a:lnTo>
                <a:lnTo>
                  <a:pt x="0" y="68257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2" id="22"/>
          <p:cNvSpPr txBox="true"/>
          <p:nvPr/>
        </p:nvSpPr>
        <p:spPr>
          <a:xfrm rot="0">
            <a:off x="2253315" y="300478"/>
            <a:ext cx="12889166" cy="2256790"/>
          </a:xfrm>
          <a:prstGeom prst="rect">
            <a:avLst/>
          </a:prstGeom>
        </p:spPr>
        <p:txBody>
          <a:bodyPr anchor="t" rtlCol="false" tIns="0" lIns="0" bIns="0" rIns="0">
            <a:spAutoFit/>
          </a:bodyPr>
          <a:lstStyle/>
          <a:p>
            <a:pPr algn="ctr" marL="0" indent="0" lvl="0">
              <a:lnSpc>
                <a:spcPts val="8960"/>
              </a:lnSpc>
            </a:pPr>
            <a:r>
              <a:rPr lang="en-US" b="true" sz="6400">
                <a:solidFill>
                  <a:srgbClr val="CD7F24"/>
                </a:solidFill>
                <a:latin typeface="Arimo Bold"/>
                <a:ea typeface="Arimo Bold"/>
                <a:cs typeface="Arimo Bold"/>
                <a:sym typeface="Arimo Bold"/>
              </a:rPr>
              <a:t>Construction Feat</a:t>
            </a:r>
            <a:r>
              <a:rPr lang="en-US" b="true" sz="6400" u="none">
                <a:solidFill>
                  <a:srgbClr val="CD7F24"/>
                </a:solidFill>
                <a:latin typeface="Arimo Bold"/>
                <a:ea typeface="Arimo Bold"/>
                <a:cs typeface="Arimo Bold"/>
                <a:sym typeface="Arimo Bold"/>
              </a:rPr>
              <a:t>ures</a:t>
            </a:r>
            <a:r>
              <a:rPr lang="en-US" b="true" sz="6400" u="none">
                <a:solidFill>
                  <a:srgbClr val="063E66"/>
                </a:solidFill>
                <a:latin typeface="Arimo Bold"/>
                <a:ea typeface="Arimo Bold"/>
                <a:cs typeface="Arimo Bold"/>
                <a:sym typeface="Arimo Bold"/>
              </a:rPr>
              <a:t> of Class II Equipment</a:t>
            </a:r>
          </a:p>
        </p:txBody>
      </p:sp>
      <p:sp>
        <p:nvSpPr>
          <p:cNvPr name="TextBox 23" id="23"/>
          <p:cNvSpPr txBox="true"/>
          <p:nvPr/>
        </p:nvSpPr>
        <p:spPr>
          <a:xfrm rot="0">
            <a:off x="2059796" y="3434329"/>
            <a:ext cx="4621986" cy="361189"/>
          </a:xfrm>
          <a:prstGeom prst="rect">
            <a:avLst/>
          </a:prstGeom>
        </p:spPr>
        <p:txBody>
          <a:bodyPr anchor="t" rtlCol="false" tIns="0" lIns="0" bIns="0" rIns="0">
            <a:spAutoFit/>
          </a:bodyPr>
          <a:lstStyle/>
          <a:p>
            <a:pPr algn="ctr" marL="0" indent="0" lvl="0">
              <a:lnSpc>
                <a:spcPts val="2736"/>
              </a:lnSpc>
              <a:spcBef>
                <a:spcPct val="0"/>
              </a:spcBef>
            </a:pPr>
            <a:r>
              <a:rPr lang="en-US" b="true" sz="2400">
                <a:solidFill>
                  <a:srgbClr val="063E66"/>
                </a:solidFill>
                <a:latin typeface="Arimo Bold"/>
                <a:ea typeface="Arimo Bold"/>
                <a:cs typeface="Arimo Bold"/>
                <a:sym typeface="Arimo Bold"/>
              </a:rPr>
              <a:t>N</a:t>
            </a:r>
            <a:r>
              <a:rPr lang="en-US" b="true" sz="2400" u="none">
                <a:solidFill>
                  <a:srgbClr val="063E66"/>
                </a:solidFill>
                <a:latin typeface="Arimo Bold"/>
                <a:ea typeface="Arimo Bold"/>
                <a:cs typeface="Arimo Bold"/>
                <a:sym typeface="Arimo Bold"/>
              </a:rPr>
              <a:t>o Protective-Earth Conductor</a:t>
            </a:r>
          </a:p>
        </p:txBody>
      </p:sp>
      <p:sp>
        <p:nvSpPr>
          <p:cNvPr name="TextBox 24" id="24"/>
          <p:cNvSpPr txBox="true"/>
          <p:nvPr/>
        </p:nvSpPr>
        <p:spPr>
          <a:xfrm rot="0">
            <a:off x="1028700" y="3919343"/>
            <a:ext cx="7337392" cy="954405"/>
          </a:xfrm>
          <a:prstGeom prst="rect">
            <a:avLst/>
          </a:prstGeom>
        </p:spPr>
        <p:txBody>
          <a:bodyPr anchor="t" rtlCol="false" tIns="0" lIns="0" bIns="0" rIns="0">
            <a:spAutoFit/>
          </a:bodyPr>
          <a:lstStyle/>
          <a:p>
            <a:pPr algn="l" marL="388622" indent="-194311" lvl="1">
              <a:lnSpc>
                <a:spcPts val="2520"/>
              </a:lnSpc>
              <a:buFont typeface="Arial"/>
              <a:buChar char="•"/>
            </a:pPr>
            <a:r>
              <a:rPr lang="en-US" sz="1800" u="none">
                <a:solidFill>
                  <a:srgbClr val="063E66"/>
                </a:solidFill>
                <a:latin typeface="Arimo"/>
                <a:ea typeface="Arimo"/>
                <a:cs typeface="Arimo"/>
                <a:sym typeface="Arimo"/>
              </a:rPr>
              <a:t>Class II equipment does not rely on an earth connection for safety.</a:t>
            </a:r>
          </a:p>
          <a:p>
            <a:pPr algn="l" marL="388622" indent="-194311" lvl="1">
              <a:lnSpc>
                <a:spcPts val="2520"/>
              </a:lnSpc>
              <a:buFont typeface="Arial"/>
              <a:buChar char="•"/>
            </a:pPr>
            <a:r>
              <a:rPr lang="en-US" sz="1800" u="none">
                <a:solidFill>
                  <a:srgbClr val="063E66"/>
                </a:solidFill>
                <a:latin typeface="Arimo"/>
                <a:ea typeface="Arimo"/>
                <a:cs typeface="Arimo"/>
                <a:sym typeface="Arimo"/>
              </a:rPr>
              <a:t>The design ensures protection through insulation barriers instead.</a:t>
            </a:r>
          </a:p>
          <a:p>
            <a:pPr algn="ctr">
              <a:lnSpc>
                <a:spcPts val="2520"/>
              </a:lnSpc>
            </a:pPr>
          </a:p>
        </p:txBody>
      </p:sp>
      <p:sp>
        <p:nvSpPr>
          <p:cNvPr name="TextBox 25" id="25"/>
          <p:cNvSpPr txBox="true"/>
          <p:nvPr/>
        </p:nvSpPr>
        <p:spPr>
          <a:xfrm rot="0">
            <a:off x="11067310" y="3443786"/>
            <a:ext cx="4621986" cy="361189"/>
          </a:xfrm>
          <a:prstGeom prst="rect">
            <a:avLst/>
          </a:prstGeom>
        </p:spPr>
        <p:txBody>
          <a:bodyPr anchor="t" rtlCol="false" tIns="0" lIns="0" bIns="0" rIns="0">
            <a:spAutoFit/>
          </a:bodyPr>
          <a:lstStyle/>
          <a:p>
            <a:pPr algn="ctr" marL="0" indent="0" lvl="0">
              <a:lnSpc>
                <a:spcPts val="2736"/>
              </a:lnSpc>
              <a:spcBef>
                <a:spcPct val="0"/>
              </a:spcBef>
            </a:pPr>
            <a:r>
              <a:rPr lang="en-US" b="true" sz="2400">
                <a:solidFill>
                  <a:srgbClr val="063E66"/>
                </a:solidFill>
                <a:latin typeface="Arimo Bold"/>
                <a:ea typeface="Arimo Bold"/>
                <a:cs typeface="Arimo Bold"/>
                <a:sym typeface="Arimo Bold"/>
              </a:rPr>
              <a:t>Double /</a:t>
            </a:r>
            <a:r>
              <a:rPr lang="en-US" b="true" sz="2400" u="none">
                <a:solidFill>
                  <a:srgbClr val="063E66"/>
                </a:solidFill>
                <a:latin typeface="Arimo Bold"/>
                <a:ea typeface="Arimo Bold"/>
                <a:cs typeface="Arimo Bold"/>
                <a:sym typeface="Arimo Bold"/>
              </a:rPr>
              <a:t> Reinforced Insulation</a:t>
            </a:r>
          </a:p>
        </p:txBody>
      </p:sp>
      <p:sp>
        <p:nvSpPr>
          <p:cNvPr name="TextBox 26" id="26"/>
          <p:cNvSpPr txBox="true"/>
          <p:nvPr/>
        </p:nvSpPr>
        <p:spPr>
          <a:xfrm rot="0">
            <a:off x="9497306" y="3939839"/>
            <a:ext cx="7761994" cy="1268730"/>
          </a:xfrm>
          <a:prstGeom prst="rect">
            <a:avLst/>
          </a:prstGeom>
        </p:spPr>
        <p:txBody>
          <a:bodyPr anchor="t" rtlCol="false" tIns="0" lIns="0" bIns="0" rIns="0">
            <a:spAutoFit/>
          </a:bodyPr>
          <a:lstStyle/>
          <a:p>
            <a:pPr algn="l" marL="388622" indent="-194311" lvl="1">
              <a:lnSpc>
                <a:spcPts val="2520"/>
              </a:lnSpc>
              <a:buFont typeface="Arial"/>
              <a:buChar char="•"/>
            </a:pPr>
            <a:r>
              <a:rPr lang="en-US" sz="1800">
                <a:solidFill>
                  <a:srgbClr val="063E66"/>
                </a:solidFill>
                <a:latin typeface="Arimo"/>
                <a:ea typeface="Arimo"/>
                <a:cs typeface="Arimo"/>
                <a:sym typeface="Arimo"/>
              </a:rPr>
              <a:t>Al</a:t>
            </a:r>
            <a:r>
              <a:rPr lang="en-US" sz="1800" u="none">
                <a:solidFill>
                  <a:srgbClr val="063E66"/>
                </a:solidFill>
                <a:latin typeface="Arimo"/>
                <a:ea typeface="Arimo"/>
                <a:cs typeface="Arimo"/>
                <a:sym typeface="Arimo"/>
              </a:rPr>
              <a:t>l accessible conductive parts are completely isolated from live circuits.</a:t>
            </a:r>
          </a:p>
          <a:p>
            <a:pPr algn="l" marL="388622" indent="-194311" lvl="1">
              <a:lnSpc>
                <a:spcPts val="2520"/>
              </a:lnSpc>
              <a:buFont typeface="Arial"/>
              <a:buChar char="•"/>
            </a:pPr>
            <a:r>
              <a:rPr lang="en-US" sz="1800" u="none">
                <a:solidFill>
                  <a:srgbClr val="063E66"/>
                </a:solidFill>
                <a:latin typeface="Arimo"/>
                <a:ea typeface="Arimo"/>
                <a:cs typeface="Arimo"/>
                <a:sym typeface="Arimo"/>
              </a:rPr>
              <a:t>Even under a single-fault condition, the user or patient cannot touch a live surface.</a:t>
            </a:r>
          </a:p>
          <a:p>
            <a:pPr algn="ctr">
              <a:lnSpc>
                <a:spcPts val="2520"/>
              </a:lnSpc>
            </a:pPr>
          </a:p>
        </p:txBody>
      </p:sp>
      <p:sp>
        <p:nvSpPr>
          <p:cNvPr name="TextBox 27" id="27"/>
          <p:cNvSpPr txBox="true"/>
          <p:nvPr/>
        </p:nvSpPr>
        <p:spPr>
          <a:xfrm rot="0">
            <a:off x="3414699" y="7762922"/>
            <a:ext cx="4621986" cy="361189"/>
          </a:xfrm>
          <a:prstGeom prst="rect">
            <a:avLst/>
          </a:prstGeom>
        </p:spPr>
        <p:txBody>
          <a:bodyPr anchor="t" rtlCol="false" tIns="0" lIns="0" bIns="0" rIns="0">
            <a:spAutoFit/>
          </a:bodyPr>
          <a:lstStyle/>
          <a:p>
            <a:pPr algn="ctr" marL="0" indent="0" lvl="0">
              <a:lnSpc>
                <a:spcPts val="2736"/>
              </a:lnSpc>
              <a:spcBef>
                <a:spcPct val="0"/>
              </a:spcBef>
            </a:pPr>
            <a:r>
              <a:rPr lang="en-US" b="true" sz="2400">
                <a:solidFill>
                  <a:srgbClr val="063E66"/>
                </a:solidFill>
                <a:latin typeface="Arimo Bold"/>
                <a:ea typeface="Arimo Bold"/>
                <a:cs typeface="Arimo Bold"/>
                <a:sym typeface="Arimo Bold"/>
              </a:rPr>
              <a:t>Des</a:t>
            </a:r>
            <a:r>
              <a:rPr lang="en-US" b="true" sz="2400" u="none">
                <a:solidFill>
                  <a:srgbClr val="063E66"/>
                </a:solidFill>
                <a:latin typeface="Arimo Bold"/>
                <a:ea typeface="Arimo Bold"/>
                <a:cs typeface="Arimo Bold"/>
                <a:sym typeface="Arimo Bold"/>
              </a:rPr>
              <a:t>ign Integrity</a:t>
            </a:r>
          </a:p>
        </p:txBody>
      </p:sp>
      <p:sp>
        <p:nvSpPr>
          <p:cNvPr name="TextBox 28" id="28"/>
          <p:cNvSpPr txBox="true"/>
          <p:nvPr/>
        </p:nvSpPr>
        <p:spPr>
          <a:xfrm rot="0">
            <a:off x="3097482" y="8159309"/>
            <a:ext cx="5201976" cy="954405"/>
          </a:xfrm>
          <a:prstGeom prst="rect">
            <a:avLst/>
          </a:prstGeom>
        </p:spPr>
        <p:txBody>
          <a:bodyPr anchor="t" rtlCol="false" tIns="0" lIns="0" bIns="0" rIns="0">
            <a:spAutoFit/>
          </a:bodyPr>
          <a:lstStyle/>
          <a:p>
            <a:pPr algn="l" marL="388622" indent="-194311" lvl="1">
              <a:lnSpc>
                <a:spcPts val="2520"/>
              </a:lnSpc>
              <a:buFont typeface="Arial"/>
              <a:buChar char="•"/>
            </a:pPr>
            <a:r>
              <a:rPr lang="en-US" sz="1800">
                <a:solidFill>
                  <a:srgbClr val="063E66"/>
                </a:solidFill>
                <a:latin typeface="Arimo"/>
                <a:ea typeface="Arimo"/>
                <a:cs typeface="Arimo"/>
                <a:sym typeface="Arimo"/>
              </a:rPr>
              <a:t>L</a:t>
            </a:r>
            <a:r>
              <a:rPr lang="en-US" sz="1800" u="none">
                <a:solidFill>
                  <a:srgbClr val="063E66"/>
                </a:solidFill>
                <a:latin typeface="Arimo"/>
                <a:ea typeface="Arimo"/>
                <a:cs typeface="Arimo"/>
                <a:sym typeface="Arimo"/>
              </a:rPr>
              <a:t>ayouts and materials selected to maintain insulation over device lifetime. resisting heat, humidity, and mechanical stress.</a:t>
            </a:r>
          </a:p>
        </p:txBody>
      </p:sp>
      <p:sp>
        <p:nvSpPr>
          <p:cNvPr name="TextBox 29" id="29"/>
          <p:cNvSpPr txBox="true"/>
          <p:nvPr/>
        </p:nvSpPr>
        <p:spPr>
          <a:xfrm rot="0">
            <a:off x="6420465" y="5680671"/>
            <a:ext cx="4621986" cy="361189"/>
          </a:xfrm>
          <a:prstGeom prst="rect">
            <a:avLst/>
          </a:prstGeom>
        </p:spPr>
        <p:txBody>
          <a:bodyPr anchor="t" rtlCol="false" tIns="0" lIns="0" bIns="0" rIns="0">
            <a:spAutoFit/>
          </a:bodyPr>
          <a:lstStyle/>
          <a:p>
            <a:pPr algn="ctr" marL="0" indent="0" lvl="0">
              <a:lnSpc>
                <a:spcPts val="2736"/>
              </a:lnSpc>
              <a:spcBef>
                <a:spcPct val="0"/>
              </a:spcBef>
            </a:pPr>
            <a:r>
              <a:rPr lang="en-US" b="true" sz="2400">
                <a:solidFill>
                  <a:srgbClr val="063E66"/>
                </a:solidFill>
                <a:latin typeface="Arimo Bold"/>
                <a:ea typeface="Arimo Bold"/>
                <a:cs typeface="Arimo Bold"/>
                <a:sym typeface="Arimo Bold"/>
              </a:rPr>
              <a:t>Creepage &amp;</a:t>
            </a:r>
            <a:r>
              <a:rPr lang="en-US" b="true" sz="2400" u="none">
                <a:solidFill>
                  <a:srgbClr val="063E66"/>
                </a:solidFill>
                <a:latin typeface="Arimo Bold"/>
                <a:ea typeface="Arimo Bold"/>
                <a:cs typeface="Arimo Bold"/>
                <a:sym typeface="Arimo Bold"/>
              </a:rPr>
              <a:t> Clearance</a:t>
            </a:r>
          </a:p>
        </p:txBody>
      </p:sp>
      <p:sp>
        <p:nvSpPr>
          <p:cNvPr name="TextBox 30" id="30"/>
          <p:cNvSpPr txBox="true"/>
          <p:nvPr/>
        </p:nvSpPr>
        <p:spPr>
          <a:xfrm rot="0">
            <a:off x="5876620" y="6169730"/>
            <a:ext cx="6572860" cy="954405"/>
          </a:xfrm>
          <a:prstGeom prst="rect">
            <a:avLst/>
          </a:prstGeom>
        </p:spPr>
        <p:txBody>
          <a:bodyPr anchor="t" rtlCol="false" tIns="0" lIns="0" bIns="0" rIns="0">
            <a:spAutoFit/>
          </a:bodyPr>
          <a:lstStyle/>
          <a:p>
            <a:pPr algn="l" marL="388622" indent="-194311" lvl="1">
              <a:lnSpc>
                <a:spcPts val="2520"/>
              </a:lnSpc>
              <a:buFont typeface="Arial"/>
              <a:buChar char="•"/>
            </a:pPr>
            <a:r>
              <a:rPr lang="en-US" sz="1800" u="none">
                <a:solidFill>
                  <a:srgbClr val="063E66"/>
                </a:solidFill>
                <a:latin typeface="Arimo"/>
                <a:ea typeface="Arimo"/>
                <a:cs typeface="Arimo"/>
                <a:sym typeface="Arimo"/>
              </a:rPr>
              <a:t>Both must comply with IEC 60601-1 Tables 7–12, ensuring adequate spacing to prevent arcing or tracking.</a:t>
            </a:r>
          </a:p>
          <a:p>
            <a:pPr algn="ctr">
              <a:lnSpc>
                <a:spcPts val="2520"/>
              </a:lnSpc>
            </a:pPr>
          </a:p>
        </p:txBody>
      </p:sp>
      <p:sp>
        <p:nvSpPr>
          <p:cNvPr name="TextBox 31" id="31"/>
          <p:cNvSpPr txBox="true"/>
          <p:nvPr/>
        </p:nvSpPr>
        <p:spPr>
          <a:xfrm rot="0">
            <a:off x="10605649" y="7631675"/>
            <a:ext cx="4621986" cy="361189"/>
          </a:xfrm>
          <a:prstGeom prst="rect">
            <a:avLst/>
          </a:prstGeom>
        </p:spPr>
        <p:txBody>
          <a:bodyPr anchor="t" rtlCol="false" tIns="0" lIns="0" bIns="0" rIns="0">
            <a:spAutoFit/>
          </a:bodyPr>
          <a:lstStyle/>
          <a:p>
            <a:pPr algn="ctr" marL="0" indent="0" lvl="0">
              <a:lnSpc>
                <a:spcPts val="2736"/>
              </a:lnSpc>
              <a:spcBef>
                <a:spcPct val="0"/>
              </a:spcBef>
            </a:pPr>
            <a:r>
              <a:rPr lang="en-US" b="true" sz="2400">
                <a:solidFill>
                  <a:srgbClr val="063E66"/>
                </a:solidFill>
                <a:latin typeface="Arimo Bold"/>
                <a:ea typeface="Arimo Bold"/>
                <a:cs typeface="Arimo Bold"/>
                <a:sym typeface="Arimo Bold"/>
              </a:rPr>
              <a:t> E</a:t>
            </a:r>
            <a:r>
              <a:rPr lang="en-US" b="true" sz="2400" u="none">
                <a:solidFill>
                  <a:srgbClr val="063E66"/>
                </a:solidFill>
                <a:latin typeface="Arimo Bold"/>
                <a:ea typeface="Arimo Bold"/>
                <a:cs typeface="Arimo Bold"/>
                <a:sym typeface="Arimo Bold"/>
              </a:rPr>
              <a:t>nclosure Material</a:t>
            </a:r>
          </a:p>
        </p:txBody>
      </p:sp>
      <p:sp>
        <p:nvSpPr>
          <p:cNvPr name="TextBox 32" id="32"/>
          <p:cNvSpPr txBox="true"/>
          <p:nvPr/>
        </p:nvSpPr>
        <p:spPr>
          <a:xfrm rot="0">
            <a:off x="9959761" y="8107298"/>
            <a:ext cx="6388318" cy="1583055"/>
          </a:xfrm>
          <a:prstGeom prst="rect">
            <a:avLst/>
          </a:prstGeom>
        </p:spPr>
        <p:txBody>
          <a:bodyPr anchor="t" rtlCol="false" tIns="0" lIns="0" bIns="0" rIns="0">
            <a:spAutoFit/>
          </a:bodyPr>
          <a:lstStyle/>
          <a:p>
            <a:pPr algn="l" marL="388622" indent="-194311" lvl="1">
              <a:lnSpc>
                <a:spcPts val="2520"/>
              </a:lnSpc>
              <a:buFont typeface="Arial"/>
              <a:buChar char="•"/>
            </a:pPr>
            <a:r>
              <a:rPr lang="en-US" sz="1800">
                <a:solidFill>
                  <a:srgbClr val="063E66"/>
                </a:solidFill>
                <a:latin typeface="Arimo"/>
                <a:ea typeface="Arimo"/>
                <a:cs typeface="Arimo"/>
                <a:sym typeface="Arimo"/>
              </a:rPr>
              <a:t>P</a:t>
            </a:r>
            <a:r>
              <a:rPr lang="en-US" sz="1800" u="none">
                <a:solidFill>
                  <a:srgbClr val="063E66"/>
                </a:solidFill>
                <a:latin typeface="Arimo"/>
                <a:ea typeface="Arimo"/>
                <a:cs typeface="Arimo"/>
                <a:sym typeface="Arimo"/>
              </a:rPr>
              <a:t>lastic or composite housings are preferred. lightweight, durable, and inherently insulating.</a:t>
            </a:r>
          </a:p>
          <a:p>
            <a:pPr algn="l" marL="388622" indent="-194311" lvl="1">
              <a:lnSpc>
                <a:spcPts val="2520"/>
              </a:lnSpc>
              <a:buFont typeface="Arial"/>
              <a:buChar char="•"/>
            </a:pPr>
            <a:r>
              <a:rPr lang="en-US" sz="1800" u="none">
                <a:solidFill>
                  <a:srgbClr val="063E66"/>
                </a:solidFill>
                <a:latin typeface="Arimo"/>
                <a:ea typeface="Arimo"/>
                <a:cs typeface="Arimo"/>
                <a:sym typeface="Arimo"/>
              </a:rPr>
              <a:t>If metal chassis is used, it must be fully encapsulated or double-insulated to prevent accidental contact.</a:t>
            </a:r>
          </a:p>
          <a:p>
            <a:pPr algn="ctr">
              <a:lnSpc>
                <a:spcPts val="252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6F6E4"/>
        </a:solidFill>
      </p:bgPr>
    </p:bg>
    <p:spTree>
      <p:nvGrpSpPr>
        <p:cNvPr id="1" name=""/>
        <p:cNvGrpSpPr/>
        <p:nvPr/>
      </p:nvGrpSpPr>
      <p:grpSpPr>
        <a:xfrm>
          <a:off x="0" y="0"/>
          <a:ext cx="0" cy="0"/>
          <a:chOff x="0" y="0"/>
          <a:chExt cx="0" cy="0"/>
        </a:xfrm>
      </p:grpSpPr>
      <p:sp>
        <p:nvSpPr>
          <p:cNvPr name="Freeform 2" id="2"/>
          <p:cNvSpPr/>
          <p:nvPr/>
        </p:nvSpPr>
        <p:spPr>
          <a:xfrm flipH="false" flipV="false" rot="0">
            <a:off x="1385789" y="2219682"/>
            <a:ext cx="8615302" cy="5847636"/>
          </a:xfrm>
          <a:custGeom>
            <a:avLst/>
            <a:gdLst/>
            <a:ahLst/>
            <a:cxnLst/>
            <a:rect r="r" b="b" t="t" l="l"/>
            <a:pathLst>
              <a:path h="5847636" w="8615302">
                <a:moveTo>
                  <a:pt x="0" y="0"/>
                </a:moveTo>
                <a:lnTo>
                  <a:pt x="8615302" y="0"/>
                </a:lnTo>
                <a:lnTo>
                  <a:pt x="8615302" y="5847636"/>
                </a:lnTo>
                <a:lnTo>
                  <a:pt x="0" y="5847636"/>
                </a:lnTo>
                <a:lnTo>
                  <a:pt x="0" y="0"/>
                </a:lnTo>
                <a:close/>
              </a:path>
            </a:pathLst>
          </a:custGeom>
          <a:blipFill>
            <a:blip r:embed="rId3"/>
            <a:stretch>
              <a:fillRect l="0" t="0" r="0" b="0"/>
            </a:stretch>
          </a:blipFill>
        </p:spPr>
      </p:sp>
      <p:sp>
        <p:nvSpPr>
          <p:cNvPr name="Freeform 3" id="3"/>
          <p:cNvSpPr/>
          <p:nvPr/>
        </p:nvSpPr>
        <p:spPr>
          <a:xfrm flipH="false" flipV="false" rot="0">
            <a:off x="11409161" y="2548337"/>
            <a:ext cx="3736606" cy="5331931"/>
          </a:xfrm>
          <a:custGeom>
            <a:avLst/>
            <a:gdLst/>
            <a:ahLst/>
            <a:cxnLst/>
            <a:rect r="r" b="b" t="t" l="l"/>
            <a:pathLst>
              <a:path h="5331931" w="3736606">
                <a:moveTo>
                  <a:pt x="0" y="0"/>
                </a:moveTo>
                <a:lnTo>
                  <a:pt x="3736606" y="0"/>
                </a:lnTo>
                <a:lnTo>
                  <a:pt x="3736606" y="5331931"/>
                </a:lnTo>
                <a:lnTo>
                  <a:pt x="0" y="5331931"/>
                </a:lnTo>
                <a:lnTo>
                  <a:pt x="0" y="0"/>
                </a:lnTo>
                <a:close/>
              </a:path>
            </a:pathLst>
          </a:custGeom>
          <a:blipFill>
            <a:blip r:embed="rId4"/>
            <a:stretch>
              <a:fillRect l="0" t="0" r="0" b="0"/>
            </a:stretch>
          </a:blipFill>
        </p:spPr>
      </p:sp>
      <p:sp>
        <p:nvSpPr>
          <p:cNvPr name="TextBox 4" id="4"/>
          <p:cNvSpPr txBox="true"/>
          <p:nvPr/>
        </p:nvSpPr>
        <p:spPr>
          <a:xfrm rot="0">
            <a:off x="876713" y="1038225"/>
            <a:ext cx="16534574" cy="902970"/>
          </a:xfrm>
          <a:prstGeom prst="rect">
            <a:avLst/>
          </a:prstGeom>
        </p:spPr>
        <p:txBody>
          <a:bodyPr anchor="t" rtlCol="false" tIns="0" lIns="0" bIns="0" rIns="0">
            <a:spAutoFit/>
          </a:bodyPr>
          <a:lstStyle/>
          <a:p>
            <a:pPr algn="l">
              <a:lnSpc>
                <a:spcPts val="6839"/>
              </a:lnSpc>
            </a:pPr>
            <a:r>
              <a:rPr lang="en-US" sz="6000" b="true">
                <a:solidFill>
                  <a:srgbClr val="CD7F24"/>
                </a:solidFill>
                <a:latin typeface="Arimo Bold"/>
                <a:ea typeface="Arimo Bold"/>
                <a:cs typeface="Arimo Bold"/>
                <a:sym typeface="Arimo Bold"/>
              </a:rPr>
              <a:t>Internal Design Elements</a:t>
            </a:r>
            <a:r>
              <a:rPr lang="en-US" sz="6000" b="true">
                <a:solidFill>
                  <a:srgbClr val="223E63"/>
                </a:solidFill>
                <a:latin typeface="Arimo Bold"/>
                <a:ea typeface="Arimo Bold"/>
                <a:cs typeface="Arimo Bold"/>
                <a:sym typeface="Arimo Bold"/>
              </a:rPr>
              <a:t> of Class II Devices</a:t>
            </a:r>
          </a:p>
        </p:txBody>
      </p:sp>
      <p:sp>
        <p:nvSpPr>
          <p:cNvPr name="TextBox 5" id="5"/>
          <p:cNvSpPr txBox="true"/>
          <p:nvPr/>
        </p:nvSpPr>
        <p:spPr>
          <a:xfrm rot="0">
            <a:off x="533021" y="8439785"/>
            <a:ext cx="17221958" cy="1589405"/>
          </a:xfrm>
          <a:prstGeom prst="rect">
            <a:avLst/>
          </a:prstGeom>
        </p:spPr>
        <p:txBody>
          <a:bodyPr anchor="t" rtlCol="false" tIns="0" lIns="0" bIns="0" rIns="0">
            <a:spAutoFit/>
          </a:bodyPr>
          <a:lstStyle/>
          <a:p>
            <a:pPr algn="l" marL="496571" indent="-248285" lvl="1">
              <a:lnSpc>
                <a:spcPts val="3220"/>
              </a:lnSpc>
              <a:buFont typeface="Arial"/>
              <a:buChar char="•"/>
            </a:pPr>
            <a:r>
              <a:rPr lang="en-US" sz="2300">
                <a:solidFill>
                  <a:srgbClr val="000000"/>
                </a:solidFill>
                <a:latin typeface="Canva Sans"/>
                <a:ea typeface="Canva Sans"/>
                <a:cs typeface="Canva Sans"/>
                <a:sym typeface="Canva Sans"/>
              </a:rPr>
              <a:t>Every con</a:t>
            </a:r>
            <a:r>
              <a:rPr lang="en-US" sz="2300">
                <a:solidFill>
                  <a:srgbClr val="000000"/>
                </a:solidFill>
                <a:latin typeface="Canva Sans"/>
                <a:ea typeface="Canva Sans"/>
                <a:cs typeface="Canva Sans"/>
                <a:sym typeface="Canva Sans"/>
              </a:rPr>
              <a:t>ductive path from the mains to the patient or operator passes through two independent insulation barriers.</a:t>
            </a:r>
          </a:p>
          <a:p>
            <a:pPr algn="l" marL="496571" indent="-248285" lvl="1">
              <a:lnSpc>
                <a:spcPts val="3220"/>
              </a:lnSpc>
              <a:buFont typeface="Arial"/>
              <a:buChar char="•"/>
            </a:pPr>
            <a:r>
              <a:rPr lang="en-US" sz="2300">
                <a:solidFill>
                  <a:srgbClr val="000000"/>
                </a:solidFill>
                <a:latin typeface="Canva Sans"/>
                <a:ea typeface="Canva Sans"/>
                <a:cs typeface="Canva Sans"/>
                <a:sym typeface="Canva Sans"/>
              </a:rPr>
              <a:t>The functional earth exists only for electromagnetic compatibility, not protection.</a:t>
            </a:r>
          </a:p>
          <a:p>
            <a:pPr algn="l" marL="496571" indent="-248285" lvl="1">
              <a:lnSpc>
                <a:spcPts val="3220"/>
              </a:lnSpc>
              <a:buFont typeface="Arial"/>
              <a:buChar char="•"/>
            </a:pPr>
            <a:r>
              <a:rPr lang="en-US" sz="2300">
                <a:solidFill>
                  <a:srgbClr val="000000"/>
                </a:solidFill>
                <a:latin typeface="Canva Sans"/>
                <a:ea typeface="Canva Sans"/>
                <a:cs typeface="Canva Sans"/>
                <a:sym typeface="Canva Sans"/>
              </a:rPr>
              <a:t>Even in a single-fault condition, no current can reach the patient.</a:t>
            </a:r>
          </a:p>
          <a:p>
            <a:pPr algn="l">
              <a:lnSpc>
                <a:spcPts val="322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057258">
            <a:off x="-3276848" y="-4449391"/>
            <a:ext cx="7652003" cy="14331316"/>
            <a:chOff x="0" y="0"/>
            <a:chExt cx="2015342" cy="3774503"/>
          </a:xfrm>
        </p:grpSpPr>
        <p:sp>
          <p:nvSpPr>
            <p:cNvPr name="Freeform 3" id="3"/>
            <p:cNvSpPr/>
            <p:nvPr/>
          </p:nvSpPr>
          <p:spPr>
            <a:xfrm flipH="false" flipV="false" rot="0">
              <a:off x="0" y="0"/>
              <a:ext cx="2015342" cy="3774503"/>
            </a:xfrm>
            <a:custGeom>
              <a:avLst/>
              <a:gdLst/>
              <a:ahLst/>
              <a:cxnLst/>
              <a:rect r="r" b="b" t="t" l="l"/>
              <a:pathLst>
                <a:path h="3774503" w="2015342">
                  <a:moveTo>
                    <a:pt x="0" y="0"/>
                  </a:moveTo>
                  <a:lnTo>
                    <a:pt x="2015342" y="0"/>
                  </a:lnTo>
                  <a:lnTo>
                    <a:pt x="2015342" y="3774503"/>
                  </a:lnTo>
                  <a:lnTo>
                    <a:pt x="0" y="3774503"/>
                  </a:lnTo>
                  <a:close/>
                </a:path>
              </a:pathLst>
            </a:custGeom>
            <a:solidFill>
              <a:srgbClr val="6FC696"/>
            </a:solidFill>
          </p:spPr>
        </p:sp>
        <p:sp>
          <p:nvSpPr>
            <p:cNvPr name="TextBox 4" id="4"/>
            <p:cNvSpPr txBox="true"/>
            <p:nvPr/>
          </p:nvSpPr>
          <p:spPr>
            <a:xfrm>
              <a:off x="0" y="-38100"/>
              <a:ext cx="2015342" cy="3812603"/>
            </a:xfrm>
            <a:prstGeom prst="rect">
              <a:avLst/>
            </a:prstGeom>
          </p:spPr>
          <p:txBody>
            <a:bodyPr anchor="ctr" rtlCol="false" tIns="50800" lIns="50800" bIns="50800" rIns="50800"/>
            <a:lstStyle/>
            <a:p>
              <a:pPr algn="ctr">
                <a:lnSpc>
                  <a:spcPts val="2564"/>
                </a:lnSpc>
              </a:pPr>
            </a:p>
          </p:txBody>
        </p:sp>
      </p:grpSp>
      <p:grpSp>
        <p:nvGrpSpPr>
          <p:cNvPr name="Group 5" id="5"/>
          <p:cNvGrpSpPr/>
          <p:nvPr/>
        </p:nvGrpSpPr>
        <p:grpSpPr>
          <a:xfrm rot="0">
            <a:off x="1210452" y="3332517"/>
            <a:ext cx="4700263" cy="4939948"/>
            <a:chOff x="0" y="0"/>
            <a:chExt cx="6267018" cy="6586597"/>
          </a:xfrm>
        </p:grpSpPr>
        <p:pic>
          <p:nvPicPr>
            <p:cNvPr name="Picture 6" id="6"/>
            <p:cNvPicPr>
              <a:picLocks noChangeAspect="true"/>
            </p:cNvPicPr>
            <p:nvPr/>
          </p:nvPicPr>
          <p:blipFill>
            <a:blip r:embed="rId2"/>
            <a:srcRect l="4436" t="0" r="4436" b="0"/>
            <a:stretch>
              <a:fillRect/>
            </a:stretch>
          </p:blipFill>
          <p:spPr>
            <a:xfrm flipH="false" flipV="false">
              <a:off x="0" y="0"/>
              <a:ext cx="6267018" cy="6586597"/>
            </a:xfrm>
            <a:prstGeom prst="rect">
              <a:avLst/>
            </a:prstGeom>
          </p:spPr>
        </p:pic>
      </p:grpSp>
      <p:grpSp>
        <p:nvGrpSpPr>
          <p:cNvPr name="Group 7" id="7"/>
          <p:cNvGrpSpPr/>
          <p:nvPr/>
        </p:nvGrpSpPr>
        <p:grpSpPr>
          <a:xfrm rot="0">
            <a:off x="14274967" y="9424990"/>
            <a:ext cx="4394712" cy="1181100"/>
            <a:chOff x="0" y="0"/>
            <a:chExt cx="1157455" cy="311072"/>
          </a:xfrm>
        </p:grpSpPr>
        <p:sp>
          <p:nvSpPr>
            <p:cNvPr name="Freeform 8" id="8"/>
            <p:cNvSpPr/>
            <p:nvPr/>
          </p:nvSpPr>
          <p:spPr>
            <a:xfrm flipH="false" flipV="false" rot="0">
              <a:off x="0" y="0"/>
              <a:ext cx="1157455" cy="311072"/>
            </a:xfrm>
            <a:custGeom>
              <a:avLst/>
              <a:gdLst/>
              <a:ahLst/>
              <a:cxnLst/>
              <a:rect r="r" b="b" t="t" l="l"/>
              <a:pathLst>
                <a:path h="311072" w="1157455">
                  <a:moveTo>
                    <a:pt x="0" y="0"/>
                  </a:moveTo>
                  <a:lnTo>
                    <a:pt x="1157455" y="0"/>
                  </a:lnTo>
                  <a:lnTo>
                    <a:pt x="1157455" y="311072"/>
                  </a:lnTo>
                  <a:lnTo>
                    <a:pt x="0" y="311072"/>
                  </a:lnTo>
                  <a:close/>
                </a:path>
              </a:pathLst>
            </a:custGeom>
            <a:solidFill>
              <a:srgbClr val="6FC696"/>
            </a:solidFill>
          </p:spPr>
        </p:sp>
        <p:sp>
          <p:nvSpPr>
            <p:cNvPr name="TextBox 9" id="9"/>
            <p:cNvSpPr txBox="true"/>
            <p:nvPr/>
          </p:nvSpPr>
          <p:spPr>
            <a:xfrm>
              <a:off x="0" y="-38100"/>
              <a:ext cx="1157455" cy="349172"/>
            </a:xfrm>
            <a:prstGeom prst="rect">
              <a:avLst/>
            </a:prstGeom>
          </p:spPr>
          <p:txBody>
            <a:bodyPr anchor="ctr" rtlCol="false" tIns="50800" lIns="50800" bIns="50800" rIns="50800"/>
            <a:lstStyle/>
            <a:p>
              <a:pPr algn="ctr">
                <a:lnSpc>
                  <a:spcPts val="2564"/>
                </a:lnSpc>
              </a:pPr>
            </a:p>
          </p:txBody>
        </p:sp>
      </p:grpSp>
      <p:sp>
        <p:nvSpPr>
          <p:cNvPr name="TextBox 10" id="10"/>
          <p:cNvSpPr txBox="true"/>
          <p:nvPr/>
        </p:nvSpPr>
        <p:spPr>
          <a:xfrm rot="0">
            <a:off x="6564956" y="2127922"/>
            <a:ext cx="7710011" cy="2256790"/>
          </a:xfrm>
          <a:prstGeom prst="rect">
            <a:avLst/>
          </a:prstGeom>
        </p:spPr>
        <p:txBody>
          <a:bodyPr anchor="t" rtlCol="false" tIns="0" lIns="0" bIns="0" rIns="0">
            <a:spAutoFit/>
          </a:bodyPr>
          <a:lstStyle/>
          <a:p>
            <a:pPr algn="l" marL="0" indent="0" lvl="0">
              <a:lnSpc>
                <a:spcPts val="8960"/>
              </a:lnSpc>
            </a:pPr>
            <a:r>
              <a:rPr lang="en-US" b="true" sz="6400">
                <a:solidFill>
                  <a:srgbClr val="CD7F24"/>
                </a:solidFill>
                <a:latin typeface="Arimo Bold"/>
                <a:ea typeface="Arimo Bold"/>
                <a:cs typeface="Arimo Bold"/>
                <a:sym typeface="Arimo Bold"/>
              </a:rPr>
              <a:t>Marking</a:t>
            </a:r>
            <a:r>
              <a:rPr lang="en-US" b="true" sz="6400" u="none">
                <a:solidFill>
                  <a:srgbClr val="CD7F24"/>
                </a:solidFill>
                <a:latin typeface="Arimo Bold"/>
                <a:ea typeface="Arimo Bold"/>
                <a:cs typeface="Arimo Bold"/>
                <a:sym typeface="Arimo Bold"/>
              </a:rPr>
              <a:t> and Identification</a:t>
            </a:r>
          </a:p>
        </p:txBody>
      </p:sp>
      <p:sp>
        <p:nvSpPr>
          <p:cNvPr name="TextBox 11" id="11"/>
          <p:cNvSpPr txBox="true"/>
          <p:nvPr/>
        </p:nvSpPr>
        <p:spPr>
          <a:xfrm rot="0">
            <a:off x="6564956" y="4803491"/>
            <a:ext cx="9700927" cy="915035"/>
          </a:xfrm>
          <a:prstGeom prst="rect">
            <a:avLst/>
          </a:prstGeom>
        </p:spPr>
        <p:txBody>
          <a:bodyPr anchor="t" rtlCol="false" tIns="0" lIns="0" bIns="0" rIns="0">
            <a:spAutoFit/>
          </a:bodyPr>
          <a:lstStyle/>
          <a:p>
            <a:pPr algn="l">
              <a:lnSpc>
                <a:spcPts val="3639"/>
              </a:lnSpc>
              <a:spcBef>
                <a:spcPct val="0"/>
              </a:spcBef>
            </a:pPr>
            <a:r>
              <a:rPr lang="en-US" b="true" sz="2599">
                <a:solidFill>
                  <a:srgbClr val="063E66"/>
                </a:solidFill>
                <a:latin typeface="Arimo Bold"/>
                <a:ea typeface="Arimo Bold"/>
                <a:cs typeface="Arimo Bold"/>
                <a:sym typeface="Arimo Bold"/>
              </a:rPr>
              <a:t>The symbol for class II equipment is 2 concentric squares indicating double insulation as shown in the image.</a:t>
            </a:r>
          </a:p>
        </p:txBody>
      </p:sp>
      <p:sp>
        <p:nvSpPr>
          <p:cNvPr name="TextBox 12" id="12"/>
          <p:cNvSpPr txBox="true"/>
          <p:nvPr/>
        </p:nvSpPr>
        <p:spPr>
          <a:xfrm rot="0">
            <a:off x="6564956" y="6443029"/>
            <a:ext cx="9316772" cy="1829435"/>
          </a:xfrm>
          <a:prstGeom prst="rect">
            <a:avLst/>
          </a:prstGeom>
        </p:spPr>
        <p:txBody>
          <a:bodyPr anchor="t" rtlCol="false" tIns="0" lIns="0" bIns="0" rIns="0">
            <a:spAutoFit/>
          </a:bodyPr>
          <a:lstStyle/>
          <a:p>
            <a:pPr algn="l" marL="561337" indent="-280669" lvl="1">
              <a:lnSpc>
                <a:spcPts val="3639"/>
              </a:lnSpc>
              <a:buFont typeface="Arial"/>
              <a:buChar char="•"/>
            </a:pPr>
            <a:r>
              <a:rPr lang="en-US" sz="2599">
                <a:solidFill>
                  <a:srgbClr val="063E66"/>
                </a:solidFill>
                <a:latin typeface="Arimo"/>
                <a:ea typeface="Arimo"/>
                <a:cs typeface="Arimo"/>
                <a:sym typeface="Arimo"/>
              </a:rPr>
              <a:t>Must appear on:</a:t>
            </a:r>
          </a:p>
          <a:p>
            <a:pPr algn="l" marL="1122675" indent="-374225" lvl="2">
              <a:lnSpc>
                <a:spcPts val="3639"/>
              </a:lnSpc>
              <a:buFont typeface="Arial"/>
              <a:buChar char="⚬"/>
            </a:pPr>
            <a:r>
              <a:rPr lang="en-US" sz="2599">
                <a:solidFill>
                  <a:srgbClr val="063E66"/>
                </a:solidFill>
                <a:latin typeface="Arimo"/>
                <a:ea typeface="Arimo"/>
                <a:cs typeface="Arimo"/>
                <a:sym typeface="Arimo"/>
              </a:rPr>
              <a:t>Equipment enclosure</a:t>
            </a:r>
          </a:p>
          <a:p>
            <a:pPr algn="l" marL="1122675" indent="-374225" lvl="2">
              <a:lnSpc>
                <a:spcPts val="3639"/>
              </a:lnSpc>
              <a:buFont typeface="Arial"/>
              <a:buChar char="⚬"/>
            </a:pPr>
            <a:r>
              <a:rPr lang="en-US" sz="2599">
                <a:solidFill>
                  <a:srgbClr val="063E66"/>
                </a:solidFill>
                <a:latin typeface="Arimo"/>
                <a:ea typeface="Arimo"/>
                <a:cs typeface="Arimo"/>
                <a:sym typeface="Arimo"/>
              </a:rPr>
              <a:t>Rating plate and accompanying documents</a:t>
            </a:r>
          </a:p>
          <a:p>
            <a:pPr algn="l" marL="561337" indent="-280669" lvl="1">
              <a:lnSpc>
                <a:spcPts val="3639"/>
              </a:lnSpc>
              <a:buFont typeface="Arial"/>
              <a:buChar char="•"/>
            </a:pPr>
            <a:r>
              <a:rPr lang="en-US" sz="2599">
                <a:solidFill>
                  <a:srgbClr val="063E66"/>
                </a:solidFill>
                <a:latin typeface="Arimo"/>
                <a:ea typeface="Arimo"/>
                <a:cs typeface="Arimo"/>
                <a:sym typeface="Arimo"/>
              </a:rPr>
              <a:t>Warns users that no earth connection should be made</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D6F6E4"/>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659874" y="2282499"/>
          <a:ext cx="16968252" cy="7296150"/>
        </p:xfrm>
        <a:graphic>
          <a:graphicData uri="http://schemas.openxmlformats.org/drawingml/2006/table">
            <a:tbl>
              <a:tblPr/>
              <a:tblGrid>
                <a:gridCol w="4015530"/>
                <a:gridCol w="8580669"/>
                <a:gridCol w="4372053"/>
              </a:tblGrid>
              <a:tr h="1024525">
                <a:tc>
                  <a:txBody>
                    <a:bodyPr anchor="t" rtlCol="false"/>
                    <a:lstStyle/>
                    <a:p>
                      <a:pPr algn="ctr">
                        <a:lnSpc>
                          <a:spcPts val="3080"/>
                        </a:lnSpc>
                        <a:defRPr/>
                      </a:pPr>
                      <a:r>
                        <a:rPr lang="en-US" sz="2200" b="true">
                          <a:solidFill>
                            <a:srgbClr val="000000"/>
                          </a:solidFill>
                          <a:latin typeface="Canva Sans Bold"/>
                          <a:ea typeface="Canva Sans Bold"/>
                          <a:cs typeface="Canva Sans Bold"/>
                          <a:sym typeface="Canva Sans Bold"/>
                        </a:rPr>
                        <a:t>Test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80"/>
                        </a:lnSpc>
                        <a:defRPr/>
                      </a:pPr>
                      <a:r>
                        <a:rPr lang="en-US" sz="2200" b="true">
                          <a:solidFill>
                            <a:srgbClr val="000000"/>
                          </a:solidFill>
                          <a:latin typeface="Canva Sans Bold"/>
                          <a:ea typeface="Canva Sans Bold"/>
                          <a:cs typeface="Canva Sans Bold"/>
                          <a:sym typeface="Canva Sans Bold"/>
                        </a:rPr>
                        <a:t>Purpose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80"/>
                        </a:lnSpc>
                        <a:defRPr/>
                      </a:pPr>
                      <a:r>
                        <a:rPr lang="en-US" sz="2200" b="true">
                          <a:solidFill>
                            <a:srgbClr val="000000"/>
                          </a:solidFill>
                          <a:latin typeface="Canva Sans Bold"/>
                          <a:ea typeface="Canva Sans Bold"/>
                          <a:cs typeface="Canva Sans Bold"/>
                          <a:sym typeface="Canva Sans Bold"/>
                        </a:rPr>
                        <a:t>Typical Standard / Limit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54325">
                <a:tc>
                  <a:txBody>
                    <a:bodyPr anchor="t" rtlCol="false"/>
                    <a:lstStyle/>
                    <a:p>
                      <a:pPr algn="ctr">
                        <a:lnSpc>
                          <a:spcPts val="3080"/>
                        </a:lnSpc>
                        <a:defRPr/>
                      </a:pPr>
                      <a:r>
                        <a:rPr lang="en-US" sz="2200" b="true">
                          <a:solidFill>
                            <a:srgbClr val="000000"/>
                          </a:solidFill>
                          <a:latin typeface="Canva Sans Bold"/>
                          <a:ea typeface="Canva Sans Bold"/>
                          <a:cs typeface="Canva Sans Bold"/>
                          <a:sym typeface="Canva Sans Bold"/>
                        </a:rPr>
                        <a:t>Dielectric Strength Test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80"/>
                        </a:lnSpc>
                        <a:defRPr/>
                      </a:pPr>
                      <a:r>
                        <a:rPr lang="en-US" sz="2200">
                          <a:solidFill>
                            <a:srgbClr val="000000"/>
                          </a:solidFill>
                          <a:latin typeface="Canva Sans"/>
                          <a:ea typeface="Canva Sans"/>
                          <a:cs typeface="Canva Sans"/>
                          <a:sym typeface="Canva Sans"/>
                        </a:rPr>
                        <a:t>Ensures insulation can safely withstand high voltages between live parts and accessible surfaces.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80"/>
                        </a:lnSpc>
                        <a:defRPr/>
                      </a:pPr>
                      <a:r>
                        <a:rPr lang="en-US" sz="2200">
                          <a:solidFill>
                            <a:srgbClr val="000000"/>
                          </a:solidFill>
                          <a:latin typeface="Canva Sans"/>
                          <a:ea typeface="Canva Sans"/>
                          <a:cs typeface="Canva Sans"/>
                          <a:sym typeface="Canva Sans"/>
                        </a:rPr>
                        <a:t>4–5 kV AC for 1 minute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54325">
                <a:tc>
                  <a:txBody>
                    <a:bodyPr anchor="t" rtlCol="false"/>
                    <a:lstStyle/>
                    <a:p>
                      <a:pPr algn="ctr">
                        <a:lnSpc>
                          <a:spcPts val="3080"/>
                        </a:lnSpc>
                        <a:defRPr/>
                      </a:pPr>
                      <a:r>
                        <a:rPr lang="en-US" sz="2200" b="true">
                          <a:solidFill>
                            <a:srgbClr val="000000"/>
                          </a:solidFill>
                          <a:latin typeface="Canva Sans Bold"/>
                          <a:ea typeface="Canva Sans Bold"/>
                          <a:cs typeface="Canva Sans Bold"/>
                          <a:sym typeface="Canva Sans Bold"/>
                        </a:rPr>
                        <a:t>Insulation Resistance Test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80"/>
                        </a:lnSpc>
                        <a:defRPr/>
                      </a:pPr>
                      <a:r>
                        <a:rPr lang="en-US" sz="2200">
                          <a:solidFill>
                            <a:srgbClr val="000000"/>
                          </a:solidFill>
                          <a:latin typeface="Canva Sans"/>
                          <a:ea typeface="Canva Sans"/>
                          <a:cs typeface="Canva Sans"/>
                          <a:sym typeface="Canva Sans"/>
                        </a:rPr>
                        <a:t>Checks insulation material quality and verifies no moisture or contamination.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80"/>
                        </a:lnSpc>
                        <a:defRPr/>
                      </a:pPr>
                      <a:r>
                        <a:rPr lang="en-US" sz="2200">
                          <a:solidFill>
                            <a:srgbClr val="000000"/>
                          </a:solidFill>
                          <a:latin typeface="Canva Sans"/>
                          <a:ea typeface="Canva Sans"/>
                          <a:cs typeface="Canva Sans"/>
                          <a:sym typeface="Canva Sans"/>
                        </a:rPr>
                        <a:t>≥ 50 MΩ at 500 V DC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54325">
                <a:tc>
                  <a:txBody>
                    <a:bodyPr anchor="t" rtlCol="false"/>
                    <a:lstStyle/>
                    <a:p>
                      <a:pPr algn="ctr">
                        <a:lnSpc>
                          <a:spcPts val="3080"/>
                        </a:lnSpc>
                        <a:defRPr/>
                      </a:pPr>
                      <a:r>
                        <a:rPr lang="en-US" sz="2200" b="true">
                          <a:solidFill>
                            <a:srgbClr val="000000"/>
                          </a:solidFill>
                          <a:latin typeface="Canva Sans Bold"/>
                          <a:ea typeface="Canva Sans Bold"/>
                          <a:cs typeface="Canva Sans Bold"/>
                          <a:sym typeface="Canva Sans Bold"/>
                        </a:rPr>
                        <a:t>Leakage Current Test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80"/>
                        </a:lnSpc>
                        <a:defRPr/>
                      </a:pPr>
                      <a:r>
                        <a:rPr lang="en-US" sz="2200">
                          <a:solidFill>
                            <a:srgbClr val="000000"/>
                          </a:solidFill>
                          <a:latin typeface="Canva Sans"/>
                          <a:ea typeface="Canva Sans"/>
                          <a:cs typeface="Canva Sans"/>
                          <a:sym typeface="Canva Sans"/>
                        </a:rPr>
                        <a:t>Confirms that touch and patient currents remain within safe levels during operation.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80"/>
                        </a:lnSpc>
                        <a:defRPr/>
                      </a:pPr>
                      <a:r>
                        <a:rPr lang="en-US" sz="2200">
                          <a:solidFill>
                            <a:srgbClr val="000000"/>
                          </a:solidFill>
                          <a:latin typeface="Canva Sans"/>
                          <a:ea typeface="Canva Sans"/>
                          <a:cs typeface="Canva Sans"/>
                          <a:sym typeface="Canva Sans"/>
                        </a:rPr>
                        <a:t>≤ 0.1 mA (touch); ≤ 0.01 mA (patient)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54325">
                <a:tc>
                  <a:txBody>
                    <a:bodyPr anchor="t" rtlCol="false"/>
                    <a:lstStyle/>
                    <a:p>
                      <a:pPr algn="ctr">
                        <a:lnSpc>
                          <a:spcPts val="3080"/>
                        </a:lnSpc>
                        <a:defRPr/>
                      </a:pPr>
                      <a:r>
                        <a:rPr lang="en-US" sz="2200" b="true">
                          <a:solidFill>
                            <a:srgbClr val="000000"/>
                          </a:solidFill>
                          <a:latin typeface="Canva Sans Bold"/>
                          <a:ea typeface="Canva Sans Bold"/>
                          <a:cs typeface="Canva Sans Bold"/>
                          <a:sym typeface="Canva Sans Bold"/>
                        </a:rPr>
                        <a:t>Creepage &amp; Clearance Verification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80"/>
                        </a:lnSpc>
                        <a:defRPr/>
                      </a:pPr>
                      <a:r>
                        <a:rPr lang="en-US" sz="2200">
                          <a:solidFill>
                            <a:srgbClr val="000000"/>
                          </a:solidFill>
                          <a:latin typeface="Canva Sans"/>
                          <a:ea typeface="Canva Sans"/>
                          <a:cs typeface="Canva Sans"/>
                          <a:sym typeface="Canva Sans"/>
                        </a:rPr>
                        <a:t>Measures spacing between conductive parts to prevent arcing and tracking.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80"/>
                        </a:lnSpc>
                        <a:defRPr/>
                      </a:pPr>
                      <a:r>
                        <a:rPr lang="en-US" sz="2200">
                          <a:solidFill>
                            <a:srgbClr val="000000"/>
                          </a:solidFill>
                          <a:latin typeface="Canva Sans"/>
                          <a:ea typeface="Canva Sans"/>
                          <a:cs typeface="Canva Sans"/>
                          <a:sym typeface="Canva Sans"/>
                        </a:rPr>
                        <a:t>≥ 8 mm (mains to accessible parts)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54325">
                <a:tc>
                  <a:txBody>
                    <a:bodyPr anchor="t" rtlCol="false"/>
                    <a:lstStyle/>
                    <a:p>
                      <a:pPr algn="ctr">
                        <a:lnSpc>
                          <a:spcPts val="3080"/>
                        </a:lnSpc>
                        <a:defRPr/>
                      </a:pPr>
                      <a:r>
                        <a:rPr lang="en-US" sz="2200" b="true">
                          <a:solidFill>
                            <a:srgbClr val="000000"/>
                          </a:solidFill>
                          <a:latin typeface="Canva Sans Bold"/>
                          <a:ea typeface="Canva Sans Bold"/>
                          <a:cs typeface="Canva Sans Bold"/>
                          <a:sym typeface="Canva Sans Bold"/>
                        </a:rPr>
                        <a:t>Single Fault Condition Test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80"/>
                        </a:lnSpc>
                        <a:defRPr/>
                      </a:pPr>
                      <a:r>
                        <a:rPr lang="en-US" sz="2200">
                          <a:solidFill>
                            <a:srgbClr val="000000"/>
                          </a:solidFill>
                          <a:latin typeface="Canva Sans"/>
                          <a:ea typeface="Canva Sans"/>
                          <a:cs typeface="Canva Sans"/>
                          <a:sym typeface="Canva Sans"/>
                        </a:rPr>
                        <a:t>Simulates failure of one insulation barrier to confirm continued protection.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80"/>
                        </a:lnSpc>
                        <a:defRPr/>
                      </a:pPr>
                      <a:r>
                        <a:rPr lang="en-US" sz="2200">
                          <a:solidFill>
                            <a:srgbClr val="000000"/>
                          </a:solidFill>
                          <a:latin typeface="Canva Sans"/>
                          <a:ea typeface="Canva Sans"/>
                          <a:cs typeface="Canva Sans"/>
                          <a:sym typeface="Canva Sans"/>
                        </a:rPr>
                        <a:t>No electric shock hazard allowed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876713" y="1038225"/>
            <a:ext cx="16534574" cy="902970"/>
          </a:xfrm>
          <a:prstGeom prst="rect">
            <a:avLst/>
          </a:prstGeom>
        </p:spPr>
        <p:txBody>
          <a:bodyPr anchor="t" rtlCol="false" tIns="0" lIns="0" bIns="0" rIns="0">
            <a:spAutoFit/>
          </a:bodyPr>
          <a:lstStyle/>
          <a:p>
            <a:pPr algn="l">
              <a:lnSpc>
                <a:spcPts val="6839"/>
              </a:lnSpc>
            </a:pPr>
            <a:r>
              <a:rPr lang="en-US" sz="6000" b="true">
                <a:solidFill>
                  <a:srgbClr val="CD7F24"/>
                </a:solidFill>
                <a:latin typeface="Arimo Bold"/>
                <a:ea typeface="Arimo Bold"/>
                <a:cs typeface="Arimo Bold"/>
                <a:sym typeface="Arimo Bold"/>
              </a:rPr>
              <a:t>Testing Requirements </a:t>
            </a:r>
            <a:r>
              <a:rPr lang="en-US" sz="6000" b="true">
                <a:solidFill>
                  <a:srgbClr val="223E63"/>
                </a:solidFill>
                <a:latin typeface="Arimo Bold"/>
                <a:ea typeface="Arimo Bold"/>
                <a:cs typeface="Arimo Bold"/>
                <a:sym typeface="Arimo Bold"/>
              </a:rPr>
              <a:t>for Class II Equipment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DAG2CkvNDaQ</dc:identifier>
  <dcterms:modified xsi:type="dcterms:W3CDTF">2011-08-01T06:04:30Z</dcterms:modified>
  <cp:revision>1</cp:revision>
  <dc:title>business</dc:title>
</cp:coreProperties>
</file>